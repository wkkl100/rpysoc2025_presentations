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Serif"/>
      <p:regular r:id="rId29"/>
      <p:bold r:id="rId30"/>
      <p:italic r:id="rId31"/>
      <p:boldItalic r:id="rId32"/>
    </p:embeddedFont>
    <p:embeddedFont>
      <p:font typeface="Lato"/>
      <p:regular r:id="rId33"/>
      <p:bold r:id="rId34"/>
      <p:italic r:id="rId35"/>
      <p:boldItalic r:id="rId36"/>
    </p:embeddedFont>
    <p:embeddedFont>
      <p:font typeface="Roboto Serif Thin"/>
      <p:regular r:id="rId37"/>
      <p:bold r:id="rId38"/>
      <p:italic r:id="rId39"/>
      <p:boldItalic r:id="rId40"/>
    </p:embeddedFont>
    <p:embeddedFont>
      <p:font typeface="Roboto Serif Medium"/>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SerifThin-boldItalic.fntdata"/><Relationship Id="rId20" Type="http://schemas.openxmlformats.org/officeDocument/2006/relationships/slide" Target="slides/slide15.xml"/><Relationship Id="rId42" Type="http://schemas.openxmlformats.org/officeDocument/2006/relationships/font" Target="fonts/RobotoSerifMedium-bold.fntdata"/><Relationship Id="rId41" Type="http://schemas.openxmlformats.org/officeDocument/2006/relationships/font" Target="fonts/RobotoSerifMedium-regular.fntdata"/><Relationship Id="rId22" Type="http://schemas.openxmlformats.org/officeDocument/2006/relationships/slide" Target="slides/slide17.xml"/><Relationship Id="rId44" Type="http://schemas.openxmlformats.org/officeDocument/2006/relationships/font" Target="fonts/RobotoSerifMedium-boldItalic.fntdata"/><Relationship Id="rId21" Type="http://schemas.openxmlformats.org/officeDocument/2006/relationships/slide" Target="slides/slide16.xml"/><Relationship Id="rId43" Type="http://schemas.openxmlformats.org/officeDocument/2006/relationships/font" Target="fonts/RobotoSerifMedium-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Serif-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erif-italic.fntdata"/><Relationship Id="rId30" Type="http://schemas.openxmlformats.org/officeDocument/2006/relationships/font" Target="fonts/RobotoSerif-bold.fntdata"/><Relationship Id="rId11" Type="http://schemas.openxmlformats.org/officeDocument/2006/relationships/slide" Target="slides/slide6.xml"/><Relationship Id="rId33" Type="http://schemas.openxmlformats.org/officeDocument/2006/relationships/font" Target="fonts/Lato-regular.fntdata"/><Relationship Id="rId10" Type="http://schemas.openxmlformats.org/officeDocument/2006/relationships/slide" Target="slides/slide5.xml"/><Relationship Id="rId32" Type="http://schemas.openxmlformats.org/officeDocument/2006/relationships/font" Target="fonts/RobotoSerif-boldItalic.fntdata"/><Relationship Id="rId13" Type="http://schemas.openxmlformats.org/officeDocument/2006/relationships/slide" Target="slides/slide8.xml"/><Relationship Id="rId35" Type="http://schemas.openxmlformats.org/officeDocument/2006/relationships/font" Target="fonts/Lato-italic.fntdata"/><Relationship Id="rId12" Type="http://schemas.openxmlformats.org/officeDocument/2006/relationships/slide" Target="slides/slide7.xml"/><Relationship Id="rId34" Type="http://schemas.openxmlformats.org/officeDocument/2006/relationships/font" Target="fonts/Lato-bold.fntdata"/><Relationship Id="rId15" Type="http://schemas.openxmlformats.org/officeDocument/2006/relationships/slide" Target="slides/slide10.xml"/><Relationship Id="rId37" Type="http://schemas.openxmlformats.org/officeDocument/2006/relationships/font" Target="fonts/RobotoSerifThin-regular.fntdata"/><Relationship Id="rId14" Type="http://schemas.openxmlformats.org/officeDocument/2006/relationships/slide" Target="slides/slide9.xml"/><Relationship Id="rId36" Type="http://schemas.openxmlformats.org/officeDocument/2006/relationships/font" Target="fonts/Lato-boldItalic.fntdata"/><Relationship Id="rId17" Type="http://schemas.openxmlformats.org/officeDocument/2006/relationships/slide" Target="slides/slide12.xml"/><Relationship Id="rId39" Type="http://schemas.openxmlformats.org/officeDocument/2006/relationships/font" Target="fonts/RobotoSerifThin-italic.fntdata"/><Relationship Id="rId16" Type="http://schemas.openxmlformats.org/officeDocument/2006/relationships/slide" Target="slides/slide11.xml"/><Relationship Id="rId38" Type="http://schemas.openxmlformats.org/officeDocument/2006/relationships/font" Target="fonts/RobotoSerifThin-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vidia.com/en-us/glossary/data-science/large-language-models/" TargetMode="External"/><Relationship Id="rId3" Type="http://schemas.openxmlformats.org/officeDocument/2006/relationships/hyperlink" Target="https://www.nvidia.com/en-us/glossary/retrieval-augmented-generation/"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facebookresearch/faiss/wiki/Faiss-building-blocks:-clustering,-PCA,-quantization"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google.com/identity/sign-in/web/sign-in" TargetMode="External"/><Relationship Id="rId3" Type="http://schemas.openxmlformats.org/officeDocument/2006/relationships/hyperlink" Target="https://developers.google.com/identity/sign-in/web/sign-in" TargetMode="External"/><Relationship Id="rId4" Type="http://schemas.openxmlformats.org/officeDocument/2006/relationships/hyperlink" Target="https://docs.google.com/spreadsheets/d/1imhWci_pL5GKL8M-HmZlgZ4MDpdIVOYTG7aH549edW4/edit?gid=415187550#gid=415187550"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fe97194c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fe97194c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 Jin- Abhinav Jindal</a:t>
            </a:r>
            <a:br>
              <a:rPr lang="en">
                <a:solidFill>
                  <a:schemeClr val="dk1"/>
                </a:solidFill>
              </a:rPr>
            </a:br>
            <a:r>
              <a:rPr lang="en">
                <a:solidFill>
                  <a:schemeClr val="dk1"/>
                </a:solidFill>
              </a:rPr>
              <a:t>Budding data scientist, full-time data &amp; analytics specialist.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 looked at a problem of finding words - data through a database - came across sentence transformers as a viable solution. Today I’m going to take you through that journey, some solutions I explored, and share some results. There will be an opportunity to ask questions at the end.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303b032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4303b032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fe796e29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fe796e29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is a problem as well as an opportunity to improve ways of working. Through adoption of simplistic data science methods using Natural Language Processing.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Meta data For ‘SEMANTIC’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Google Hackathon - a large language model called Vertex-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Tell ppl what you’re going to tell them - TEll them - And finally tell them what you’ve told them (summarise)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Story - 3 ACTS - Start - middle - end – Focus on Coherence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36667f3f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436667f3f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&gt; Outgoing fellow on HSMA-6, delivered by Dan Chalk &amp; Sammy Rosser from NIHR Applied Research Collaboration with University of Exeter - learnt about DS, Streamlit and others. </a:t>
            </a:r>
            <a:endParaRPr/>
          </a:p>
          <a:p>
            <a:pPr indent="0" lvl="0" marL="0" rtl="0" algn="l">
              <a:spcBef>
                <a:spcPts val="0"/>
              </a:spcBef>
              <a:spcAft>
                <a:spcPts val="0"/>
              </a:spcAft>
              <a:buNone/>
            </a:pPr>
            <a:r>
              <a:rPr lang="en"/>
              <a:t>&gt; Participated in NHS AI Hackathon ‘2024, organised by Google, where I learnt about RAG. </a:t>
            </a:r>
            <a:endParaRPr/>
          </a:p>
          <a:p>
            <a:pPr indent="0" lvl="0" marL="0" rtl="0" algn="l">
              <a:spcBef>
                <a:spcPts val="0"/>
              </a:spcBef>
              <a:spcAft>
                <a:spcPts val="0"/>
              </a:spcAft>
              <a:buNone/>
            </a:pPr>
            <a:r>
              <a:rPr lang="en"/>
              <a:t>&gt; Created LLM app with streamlit </a:t>
            </a:r>
            <a:endParaRPr/>
          </a:p>
          <a:p>
            <a:pPr indent="0" lvl="0" marL="0" rtl="0" algn="l">
              <a:spcBef>
                <a:spcPts val="0"/>
              </a:spcBef>
              <a:spcAft>
                <a:spcPts val="0"/>
              </a:spcAft>
              <a:buNone/>
            </a:pPr>
            <a:r>
              <a:rPr lang="en"/>
              <a:t>Learnt about two ideas - what is a RAG &amp; a simple enough user interface without a lot of code - streamlit</a:t>
            </a:r>
            <a:endParaRPr/>
          </a:p>
          <a:p>
            <a:pPr indent="0" lvl="0" marL="0" rtl="0" algn="l">
              <a:spcBef>
                <a:spcPts val="0"/>
              </a:spcBef>
              <a:spcAft>
                <a:spcPts val="0"/>
              </a:spcAft>
              <a:buNone/>
            </a:pPr>
            <a:r>
              <a:rPr lang="en"/>
              <a:t>&gt; Experimented with RAG</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21e3c9b7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21e3c9b7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Talk about shortcomings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30b8a19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30b8a19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highlight>
                  <a:srgbClr val="FFFFFF"/>
                </a:highlight>
              </a:rPr>
              <a:t>Analogy from Nvidia: Imagine a courtroom; where specialized cases will require specialized knowledge. </a:t>
            </a:r>
            <a:r>
              <a:rPr lang="en" sz="1200">
                <a:solidFill>
                  <a:schemeClr val="dk1"/>
                </a:solidFill>
                <a:highlight>
                  <a:srgbClr val="FFFFFF"/>
                </a:highlight>
              </a:rPr>
              <a:t>so judges send court clerks to a law library, looking for precedents and specific cases they can cite.</a:t>
            </a:r>
            <a:endParaRPr sz="1200">
              <a:solidFill>
                <a:schemeClr val="dk1"/>
              </a:solidFill>
              <a:highlight>
                <a:srgbClr val="FFFFFF"/>
              </a:highlight>
            </a:endParaRPr>
          </a:p>
          <a:p>
            <a:pPr indent="0" lvl="0" marL="0" rtl="0" algn="l">
              <a:lnSpc>
                <a:spcPct val="115000"/>
              </a:lnSpc>
              <a:spcBef>
                <a:spcPts val="2100"/>
              </a:spcBef>
              <a:spcAft>
                <a:spcPts val="0"/>
              </a:spcAft>
              <a:buNone/>
            </a:pPr>
            <a:r>
              <a:rPr lang="en" sz="1200">
                <a:solidFill>
                  <a:schemeClr val="dk1"/>
                </a:solidFill>
                <a:highlight>
                  <a:srgbClr val="FFFFFF"/>
                </a:highlight>
              </a:rPr>
              <a:t> </a:t>
            </a:r>
            <a:r>
              <a:rPr lang="en" sz="1200">
                <a:solidFill>
                  <a:schemeClr val="dk1"/>
                </a:solidFill>
                <a:highlight>
                  <a:srgbClr val="FFFFFF"/>
                </a:highlight>
              </a:rPr>
              <a:t>Like a good judge, large language models (</a:t>
            </a:r>
            <a:r>
              <a:rPr lang="en" sz="1200" u="sng">
                <a:solidFill>
                  <a:schemeClr val="hlink"/>
                </a:solidFill>
                <a:highlight>
                  <a:srgbClr val="FFFFFF"/>
                </a:highlight>
                <a:hlinkClick r:id="rId2"/>
              </a:rPr>
              <a:t>LLMs</a:t>
            </a:r>
            <a:r>
              <a:rPr lang="en" sz="1200">
                <a:solidFill>
                  <a:schemeClr val="dk1"/>
                </a:solidFill>
                <a:highlight>
                  <a:srgbClr val="FFFFFF"/>
                </a:highlight>
              </a:rPr>
              <a:t>) can respond to a wide variety of human queries. But to deliver reliable judgementds grounded in specific court proceedings  — the model needs to be provided that information. </a:t>
            </a:r>
            <a:endParaRPr sz="1200">
              <a:solidFill>
                <a:schemeClr val="dk1"/>
              </a:solidFill>
              <a:highlight>
                <a:srgbClr val="FFFFFF"/>
              </a:highlight>
            </a:endParaRPr>
          </a:p>
          <a:p>
            <a:pPr indent="0" lvl="0" marL="0" rtl="0" algn="l">
              <a:lnSpc>
                <a:spcPct val="115000"/>
              </a:lnSpc>
              <a:spcBef>
                <a:spcPts val="2100"/>
              </a:spcBef>
              <a:spcAft>
                <a:spcPts val="0"/>
              </a:spcAft>
              <a:buClr>
                <a:schemeClr val="dk1"/>
              </a:buClr>
              <a:buSzPts val="1100"/>
              <a:buFont typeface="Arial"/>
              <a:buNone/>
            </a:pPr>
            <a:r>
              <a:rPr lang="en" sz="1200">
                <a:solidFill>
                  <a:schemeClr val="dk1"/>
                </a:solidFill>
                <a:highlight>
                  <a:srgbClr val="FFFFFF"/>
                </a:highlight>
              </a:rPr>
              <a:t>The court clerk of AI is a process called </a:t>
            </a:r>
            <a:r>
              <a:rPr lang="en" sz="1200" u="sng">
                <a:solidFill>
                  <a:schemeClr val="hlink"/>
                </a:solidFill>
                <a:highlight>
                  <a:srgbClr val="FFFFFF"/>
                </a:highlight>
                <a:hlinkClick r:id="rId3"/>
              </a:rPr>
              <a:t>retrieval-augmented generation</a:t>
            </a:r>
            <a:r>
              <a:rPr lang="en" sz="1200">
                <a:solidFill>
                  <a:schemeClr val="dk1"/>
                </a:solidFill>
                <a:highlight>
                  <a:srgbClr val="FFFFFF"/>
                </a:highlight>
              </a:rPr>
              <a:t>, or RAG for short.</a:t>
            </a:r>
            <a:endParaRPr sz="1200">
              <a:solidFill>
                <a:schemeClr val="dk1"/>
              </a:solidFill>
              <a:highlight>
                <a:srgbClr val="FFFFFF"/>
              </a:highlight>
            </a:endParaRPr>
          </a:p>
          <a:p>
            <a:pPr indent="0" lvl="0" marL="0" rtl="0" algn="l">
              <a:lnSpc>
                <a:spcPct val="115000"/>
              </a:lnSpc>
              <a:spcBef>
                <a:spcPts val="2100"/>
              </a:spcBef>
              <a:spcAft>
                <a:spcPts val="0"/>
              </a:spcAft>
              <a:buClr>
                <a:schemeClr val="dk1"/>
              </a:buClr>
              <a:buSzPts val="1100"/>
              <a:buFont typeface="Arial"/>
              <a:buNone/>
            </a:pPr>
            <a:r>
              <a:t/>
            </a:r>
            <a:endParaRPr sz="1200">
              <a:solidFill>
                <a:schemeClr val="dk1"/>
              </a:solidFill>
              <a:highlight>
                <a:srgbClr val="FFFFFF"/>
              </a:highlight>
            </a:endParaRPr>
          </a:p>
          <a:p>
            <a:pPr indent="0" lvl="0" marL="0" rtl="0" algn="l">
              <a:spcBef>
                <a:spcPts val="21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fe796e295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fe796e295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latin typeface="Roboto Serif"/>
                <a:ea typeface="Roboto Serif"/>
                <a:cs typeface="Roboto Serif"/>
                <a:sym typeface="Roboto Serif"/>
              </a:rPr>
              <a:t>I’ve devised a system that enables the use of semantic capabilities. It allows users to input query related to healthcare research and get relevant information linked to the studies(part of NIHR RDN portfolio). This automated approach aims to significantly reduce the time and effort required for manual verification, ensuring more efficient and reliable outcomes.</a:t>
            </a:r>
            <a:endParaRPr sz="1800">
              <a:solidFill>
                <a:srgbClr val="595959"/>
              </a:solidFill>
              <a:latin typeface="Roboto Serif"/>
              <a:ea typeface="Roboto Serif"/>
              <a:cs typeface="Roboto Serif"/>
              <a:sym typeface="Roboto Serif"/>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595959"/>
              </a:solidFill>
              <a:latin typeface="Roboto Serif"/>
              <a:ea typeface="Roboto Serif"/>
              <a:cs typeface="Roboto Serif"/>
              <a:sym typeface="Roboto Serif"/>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e796e295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fe796e295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381ab586e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381ab586e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Sentence embedding model - convert into vectors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36667f3f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36667f3f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solidFill>
                <a:schemeClr val="dk1"/>
              </a:solidFill>
              <a:highlight>
                <a:srgbClr val="FFFFFF"/>
              </a:highlight>
            </a:endParaRPr>
          </a:p>
          <a:p>
            <a:pPr indent="0" lvl="0" marL="0" rtl="0" algn="l">
              <a:lnSpc>
                <a:spcPct val="115000"/>
              </a:lnSpc>
              <a:spcBef>
                <a:spcPts val="2100"/>
              </a:spcBef>
              <a:spcAft>
                <a:spcPts val="0"/>
              </a:spcAft>
              <a:buNone/>
            </a:pPr>
            <a:r>
              <a:t/>
            </a:r>
            <a:endParaRPr sz="1200">
              <a:solidFill>
                <a:schemeClr val="dk1"/>
              </a:solidFill>
              <a:highlight>
                <a:srgbClr val="FFFFFF"/>
              </a:highlight>
            </a:endParaRPr>
          </a:p>
          <a:p>
            <a:pPr indent="0" lvl="0" marL="0" rtl="0" algn="l">
              <a:spcBef>
                <a:spcPts val="21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379337e7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379337e7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latin typeface="Roboto Serif"/>
                <a:ea typeface="Roboto Serif"/>
                <a:cs typeface="Roboto Serif"/>
                <a:sym typeface="Roboto Serif"/>
              </a:rPr>
              <a:t>As the following data model and process flow diagrams will explain, this program makes a call to NIHR RDN data warehouse through a secure connection. After some necessary pre-processing of data using pandas and numpy, it then converts the text fields into sentence embeddings vectors using sentence-transformer. The converted vectors are then stored in the FAISS vector store for seamless querying. </a:t>
            </a:r>
            <a:endParaRPr sz="1800">
              <a:solidFill>
                <a:srgbClr val="595959"/>
              </a:solidFill>
              <a:latin typeface="Roboto Serif"/>
              <a:ea typeface="Roboto Serif"/>
              <a:cs typeface="Roboto Serif"/>
              <a:sym typeface="Roboto Serif"/>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latin typeface="Roboto Serif"/>
                <a:ea typeface="Roboto Serif"/>
                <a:cs typeface="Roboto Serif"/>
                <a:sym typeface="Roboto Serif"/>
              </a:rPr>
              <a:t>Afterwards, a user or an analyst uses the front-end streamlit web-app to input a readable query (e.g. ‘Show me research around mental health’) AND the number of records to be fetched. The model then compares the user input against the vector store using k-nearest neighbours approach to produce a list of research studies, along with a rank(lower is better) and a similarity score(lower is better). The RAG also summarises the output. An API endpoint is used to separate the back-end indexing, data querying and transformations and the front-end web-interface.</a:t>
            </a:r>
            <a:endParaRPr sz="1800">
              <a:solidFill>
                <a:srgbClr val="595959"/>
              </a:solidFill>
              <a:latin typeface="Roboto Serif"/>
              <a:ea typeface="Roboto Serif"/>
              <a:cs typeface="Roboto Serif"/>
              <a:sym typeface="Roboto Serif"/>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595959"/>
              </a:solidFill>
              <a:latin typeface="Roboto Serif"/>
              <a:ea typeface="Roboto Serif"/>
              <a:cs typeface="Roboto Serif"/>
              <a:sym typeface="Roboto Serif"/>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fd98f0a7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fd98f0a7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fd98f0a7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6fd98f0a7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an example – vector </a:t>
            </a:r>
            <a:endParaRPr/>
          </a:p>
          <a:p>
            <a:pPr indent="0" lvl="0" marL="0" rtl="0" algn="l">
              <a:spcBef>
                <a:spcPts val="0"/>
              </a:spcBef>
              <a:spcAft>
                <a:spcPts val="0"/>
              </a:spcAft>
              <a:buNone/>
            </a:pPr>
            <a:r>
              <a:rPr lang="en"/>
              <a:t>To the uninitiated, This is what I mean by vectorization - </a:t>
            </a:r>
            <a:endParaRPr/>
          </a:p>
          <a:p>
            <a:pPr indent="0" lvl="0" marL="0" rtl="0" algn="l">
              <a:spcBef>
                <a:spcPts val="0"/>
              </a:spcBef>
              <a:spcAft>
                <a:spcPts val="0"/>
              </a:spcAft>
              <a:buNone/>
            </a:pPr>
            <a:r>
              <a:rPr lang="en"/>
              <a:t>Vector store - FAISS why is it used</a:t>
            </a:r>
            <a:endParaRPr/>
          </a:p>
          <a:p>
            <a:pPr indent="0" lvl="0" marL="0" rtl="0" algn="l">
              <a:spcBef>
                <a:spcPts val="0"/>
              </a:spcBef>
              <a:spcAft>
                <a:spcPts val="0"/>
              </a:spcAft>
              <a:buNone/>
            </a:pPr>
            <a:r>
              <a:rPr lang="en"/>
              <a:t>Similarity methods - K-means, cosine, KNN,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fd98f0a7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fd98f0a7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Alternatives include ChromadB - which is more suited for small to medium datasets and AI applications. Based on my research, it is not as mature as FAISS.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solidFill>
                  <a:srgbClr val="1F2328"/>
                </a:solidFill>
                <a:highlight>
                  <a:srgbClr val="FFFFFF"/>
                </a:highlight>
              </a:rPr>
              <a:t>Faiss is built on a few basic algorithms with very efficient implementations: k-means clustering, PCA, PQ encoding/decoding.</a:t>
            </a:r>
            <a:endParaRPr sz="1200">
              <a:solidFill>
                <a:srgbClr val="1F2328"/>
              </a:solidFill>
              <a:highlight>
                <a:srgbClr val="FFFFFF"/>
              </a:highlight>
            </a:endParaRPr>
          </a:p>
          <a:p>
            <a:pPr indent="0" lvl="0" marL="0" rtl="0" algn="l">
              <a:spcBef>
                <a:spcPts val="0"/>
              </a:spcBef>
              <a:spcAft>
                <a:spcPts val="0"/>
              </a:spcAft>
              <a:buNone/>
            </a:pPr>
            <a:r>
              <a:rPr lang="en" sz="1200" u="sng">
                <a:solidFill>
                  <a:schemeClr val="hlink"/>
                </a:solidFill>
                <a:highlight>
                  <a:srgbClr val="FFFFFF"/>
                </a:highlight>
                <a:hlinkClick r:id="rId2"/>
              </a:rPr>
              <a:t>https://github.com/facebookresearch/faiss/wiki/Faiss-building-blocks:-clustering,-PCA,-quantization</a:t>
            </a:r>
            <a:endParaRPr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3200">
                <a:solidFill>
                  <a:srgbClr val="1F2328"/>
                </a:solidFill>
                <a:highlight>
                  <a:schemeClr val="lt1"/>
                </a:highlight>
                <a:latin typeface="Roboto Serif"/>
                <a:ea typeface="Roboto Serif"/>
                <a:cs typeface="Roboto Serif"/>
                <a:sym typeface="Roboto Serif"/>
              </a:rPr>
              <a:t>Given a set of vectors {x1,...,xn} in dimension d, Faiss builds a data structure in RAM. After the structure is constructed, when given a new vector x in dimension d it performs efficiently the operation:</a:t>
            </a:r>
            <a:endParaRPr sz="3200">
              <a:solidFill>
                <a:srgbClr val="1F2328"/>
              </a:solidFill>
              <a:highlight>
                <a:schemeClr val="lt1"/>
              </a:highlight>
              <a:latin typeface="Roboto Serif"/>
              <a:ea typeface="Roboto Serif"/>
              <a:cs typeface="Roboto Serif"/>
              <a:sym typeface="Roboto Serif"/>
            </a:endParaRPr>
          </a:p>
          <a:p>
            <a:pPr indent="0" lvl="0" marL="0" rtl="0" algn="l">
              <a:lnSpc>
                <a:spcPct val="115000"/>
              </a:lnSpc>
              <a:spcBef>
                <a:spcPts val="0"/>
              </a:spcBef>
              <a:spcAft>
                <a:spcPts val="0"/>
              </a:spcAft>
              <a:buClr>
                <a:schemeClr val="dk1"/>
              </a:buClr>
              <a:buSzPts val="1100"/>
              <a:buFont typeface="Arial"/>
              <a:buNone/>
            </a:pPr>
            <a:r>
              <a:t/>
            </a:r>
            <a:endParaRPr sz="3200">
              <a:solidFill>
                <a:srgbClr val="1F2328"/>
              </a:solidFill>
              <a:highlight>
                <a:schemeClr val="lt1"/>
              </a:highlight>
              <a:latin typeface="Roboto Serif"/>
              <a:ea typeface="Roboto Serif"/>
              <a:cs typeface="Roboto Serif"/>
              <a:sym typeface="Roboto Serif"/>
            </a:endParaRPr>
          </a:p>
          <a:p>
            <a:pPr indent="0" lvl="0" marL="0" rtl="0" algn="l">
              <a:lnSpc>
                <a:spcPct val="115000"/>
              </a:lnSpc>
              <a:spcBef>
                <a:spcPts val="0"/>
              </a:spcBef>
              <a:spcAft>
                <a:spcPts val="0"/>
              </a:spcAft>
              <a:buClr>
                <a:schemeClr val="dk1"/>
              </a:buClr>
              <a:buSzPts val="1100"/>
              <a:buFont typeface="Arial"/>
              <a:buNone/>
            </a:pPr>
            <a:r>
              <a:rPr b="1" lang="en" sz="3200">
                <a:solidFill>
                  <a:srgbClr val="1F2328"/>
                </a:solidFill>
                <a:highlight>
                  <a:schemeClr val="lt1"/>
                </a:highlight>
                <a:latin typeface="Roboto Serif"/>
                <a:ea typeface="Roboto Serif"/>
                <a:cs typeface="Roboto Serif"/>
                <a:sym typeface="Roboto Serif"/>
              </a:rPr>
              <a:t>i=argmini‖x−xi‖</a:t>
            </a:r>
            <a:endParaRPr b="1" sz="3200">
              <a:solidFill>
                <a:srgbClr val="1F2328"/>
              </a:solidFill>
              <a:highlight>
                <a:schemeClr val="lt1"/>
              </a:highlight>
              <a:latin typeface="Roboto Serif"/>
              <a:ea typeface="Roboto Serif"/>
              <a:cs typeface="Roboto Serif"/>
              <a:sym typeface="Roboto Serif"/>
            </a:endParaRPr>
          </a:p>
          <a:p>
            <a:pPr indent="0" lvl="0" marL="0" rtl="0" algn="l">
              <a:lnSpc>
                <a:spcPct val="115000"/>
              </a:lnSpc>
              <a:spcBef>
                <a:spcPts val="0"/>
              </a:spcBef>
              <a:spcAft>
                <a:spcPts val="0"/>
              </a:spcAft>
              <a:buClr>
                <a:schemeClr val="dk1"/>
              </a:buClr>
              <a:buSzPts val="1100"/>
              <a:buFont typeface="Arial"/>
              <a:buNone/>
            </a:pPr>
            <a:r>
              <a:rPr lang="en" sz="3200">
                <a:solidFill>
                  <a:srgbClr val="1F2328"/>
                </a:solidFill>
                <a:highlight>
                  <a:schemeClr val="lt1"/>
                </a:highlight>
                <a:latin typeface="Roboto Serif"/>
                <a:ea typeface="Roboto Serif"/>
                <a:cs typeface="Roboto Serif"/>
                <a:sym typeface="Roboto Serif"/>
              </a:rPr>
              <a:t>where ‖.‖ is the Euclidean distance.</a:t>
            </a:r>
            <a:endParaRPr sz="3200">
              <a:solidFill>
                <a:srgbClr val="1F2328"/>
              </a:solidFill>
              <a:highlight>
                <a:schemeClr val="lt1"/>
              </a:highlight>
              <a:latin typeface="Roboto Serif"/>
              <a:ea typeface="Roboto Serif"/>
              <a:cs typeface="Roboto Serif"/>
              <a:sym typeface="Roboto Serif"/>
            </a:endParaRPr>
          </a:p>
          <a:p>
            <a:pPr indent="-431800" lvl="0" marL="457200" rtl="0" algn="l">
              <a:lnSpc>
                <a:spcPct val="115000"/>
              </a:lnSpc>
              <a:spcBef>
                <a:spcPts val="300"/>
              </a:spcBef>
              <a:spcAft>
                <a:spcPts val="0"/>
              </a:spcAft>
              <a:buClr>
                <a:srgbClr val="1F2328"/>
              </a:buClr>
              <a:buSzPts val="3200"/>
              <a:buFont typeface="Roboto Serif"/>
              <a:buChar char="●"/>
            </a:pPr>
            <a:r>
              <a:rPr lang="en" sz="3200">
                <a:solidFill>
                  <a:srgbClr val="1F2328"/>
                </a:solidFill>
                <a:highlight>
                  <a:schemeClr val="lt1"/>
                </a:highlight>
                <a:latin typeface="Roboto Serif"/>
                <a:ea typeface="Roboto Serif"/>
                <a:cs typeface="Roboto Serif"/>
                <a:sym typeface="Roboto Serif"/>
              </a:rPr>
              <a:t>trade precision for speed, ie. give an incorrect result 10% of the time with a method that's 10x faster or uses 10x less memory</a:t>
            </a:r>
            <a:endParaRPr sz="3200">
              <a:solidFill>
                <a:srgbClr val="1F2328"/>
              </a:solidFill>
              <a:highlight>
                <a:schemeClr val="lt1"/>
              </a:highlight>
              <a:latin typeface="Roboto Serif"/>
              <a:ea typeface="Roboto Serif"/>
              <a:cs typeface="Roboto Serif"/>
              <a:sym typeface="Roboto Serif"/>
            </a:endParaRPr>
          </a:p>
          <a:p>
            <a:pPr indent="0" lvl="0" marL="0" rtl="0" algn="l">
              <a:spcBef>
                <a:spcPts val="0"/>
              </a:spcBef>
              <a:spcAft>
                <a:spcPts val="0"/>
              </a:spcAft>
              <a:buNone/>
            </a:pPr>
            <a:r>
              <a:t/>
            </a:r>
            <a:endParaRPr sz="1200">
              <a:solidFill>
                <a:srgbClr val="1F2328"/>
              </a:solidFill>
              <a:highlight>
                <a:srgbClr val="FFFFFF"/>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fd98f0a7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6fd98f0a7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fe97194f5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fe97194f5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6fd98f0a7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6fd98f0a7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21e3c9b7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421e3c9b7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K = 200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372ea1cd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4372ea1cd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K = 5000</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21e3c9b7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421e3c9b7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they be interested (audience)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800">
                <a:solidFill>
                  <a:srgbClr val="595959"/>
                </a:solidFill>
              </a:rPr>
              <a:t>The app is currently in testing, and following CI/CD approach. I’m excited about its potential to streamline our operations and provide more accurate and timely data to the public and the Department of Health and Social Care. By automating specific tasks or processes, the aim is to significantly reduce manual workload and improve the reliability of our reporting. Our goal is to continue refining and expanding the app's capabilities to deliver even greater value in the future.</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595959"/>
              </a:solidFill>
            </a:endParaRPr>
          </a:p>
          <a:p>
            <a:pPr indent="-317500" lvl="1" marL="914400" rtl="0" algn="l">
              <a:lnSpc>
                <a:spcPct val="115000"/>
              </a:lnSpc>
              <a:spcBef>
                <a:spcPts val="1200"/>
              </a:spcBef>
              <a:spcAft>
                <a:spcPts val="0"/>
              </a:spcAft>
              <a:buClr>
                <a:srgbClr val="595959"/>
              </a:buClr>
              <a:buSzPts val="1400"/>
              <a:buFont typeface="Roboto Serif"/>
              <a:buChar char="○"/>
            </a:pPr>
            <a:r>
              <a:rPr lang="en" sz="1400">
                <a:solidFill>
                  <a:srgbClr val="595959"/>
                </a:solidFill>
                <a:latin typeface="Roboto Serif"/>
                <a:ea typeface="Roboto Serif"/>
                <a:cs typeface="Roboto Serif"/>
                <a:sym typeface="Roboto Serif"/>
              </a:rPr>
              <a:t>Anybody should be able to run a query, in theory; and not solely analysts with SQL know-how</a:t>
            </a:r>
            <a:endParaRPr sz="1800">
              <a:solidFill>
                <a:srgbClr val="595959"/>
              </a:solidFill>
            </a:endParaRPr>
          </a:p>
          <a:p>
            <a:pPr indent="-317500" lvl="1" marL="914400" rtl="0" algn="l">
              <a:lnSpc>
                <a:spcPct val="115000"/>
              </a:lnSpc>
              <a:spcBef>
                <a:spcPts val="0"/>
              </a:spcBef>
              <a:spcAft>
                <a:spcPts val="0"/>
              </a:spcAft>
              <a:buClr>
                <a:srgbClr val="595959"/>
              </a:buClr>
              <a:buSzPts val="1400"/>
              <a:buFont typeface="Roboto Serif"/>
              <a:buChar char="○"/>
            </a:pPr>
            <a:r>
              <a:rPr lang="en" sz="1400">
                <a:solidFill>
                  <a:srgbClr val="595959"/>
                </a:solidFill>
                <a:latin typeface="Roboto Serif"/>
                <a:ea typeface="Roboto Serif"/>
                <a:cs typeface="Roboto Serif"/>
                <a:sym typeface="Roboto Serif"/>
              </a:rPr>
              <a:t>Women’s health curated portfolio</a:t>
            </a:r>
            <a:endParaRPr sz="1400">
              <a:solidFill>
                <a:srgbClr val="595959"/>
              </a:solidFill>
              <a:latin typeface="Roboto Serif"/>
              <a:ea typeface="Roboto Serif"/>
              <a:cs typeface="Roboto Serif"/>
              <a:sym typeface="Roboto Serif"/>
            </a:endParaRPr>
          </a:p>
          <a:p>
            <a:pPr indent="-317500" lvl="1" marL="914400" rtl="0" algn="l">
              <a:lnSpc>
                <a:spcPct val="115000"/>
              </a:lnSpc>
              <a:spcBef>
                <a:spcPts val="0"/>
              </a:spcBef>
              <a:spcAft>
                <a:spcPts val="0"/>
              </a:spcAft>
              <a:buClr>
                <a:srgbClr val="595959"/>
              </a:buClr>
              <a:buSzPts val="1400"/>
              <a:buFont typeface="Roboto Serif"/>
              <a:buChar char="○"/>
            </a:pPr>
            <a:r>
              <a:rPr lang="en" sz="1400">
                <a:solidFill>
                  <a:srgbClr val="595959"/>
                </a:solidFill>
                <a:latin typeface="Roboto Serif"/>
                <a:ea typeface="Roboto Serif"/>
                <a:cs typeface="Roboto Serif"/>
                <a:sym typeface="Roboto Serif"/>
              </a:rPr>
              <a:t>Cancer Curated Portfolio</a:t>
            </a:r>
            <a:endParaRPr sz="1400">
              <a:solidFill>
                <a:srgbClr val="595959"/>
              </a:solidFill>
              <a:latin typeface="Roboto Serif"/>
              <a:ea typeface="Roboto Serif"/>
              <a:cs typeface="Roboto Serif"/>
              <a:sym typeface="Roboto Serif"/>
            </a:endParaRPr>
          </a:p>
          <a:p>
            <a:pPr indent="-317500" lvl="1" marL="914400" rtl="0" algn="l">
              <a:lnSpc>
                <a:spcPct val="115000"/>
              </a:lnSpc>
              <a:spcBef>
                <a:spcPts val="0"/>
              </a:spcBef>
              <a:spcAft>
                <a:spcPts val="0"/>
              </a:spcAft>
              <a:buClr>
                <a:srgbClr val="595959"/>
              </a:buClr>
              <a:buSzPts val="1400"/>
              <a:buFont typeface="Roboto Serif"/>
              <a:buChar char="○"/>
            </a:pPr>
            <a:r>
              <a:rPr lang="en" sz="1400">
                <a:solidFill>
                  <a:srgbClr val="595959"/>
                </a:solidFill>
                <a:latin typeface="Roboto Serif"/>
                <a:ea typeface="Roboto Serif"/>
                <a:cs typeface="Roboto Serif"/>
                <a:sym typeface="Roboto Serif"/>
              </a:rPr>
              <a:t>Vaccines curated portfolio</a:t>
            </a:r>
            <a:endParaRPr sz="1800">
              <a:solidFill>
                <a:srgbClr val="595959"/>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379337e7c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379337e7c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To improve performance of streamlit app : run background processes/functions as st.fragments -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
                <a:solidFill>
                  <a:srgbClr val="222222"/>
                </a:solidFill>
              </a:rPr>
              <a:t>Some additional considerations:</a:t>
            </a:r>
            <a:endParaRPr>
              <a:solidFill>
                <a:srgbClr val="222222"/>
              </a:solidFill>
            </a:endParaRPr>
          </a:p>
          <a:p>
            <a:pPr indent="-298450" lvl="0" marL="596900" rtl="0" algn="l">
              <a:lnSpc>
                <a:spcPct val="115000"/>
              </a:lnSpc>
              <a:spcBef>
                <a:spcPts val="0"/>
              </a:spcBef>
              <a:spcAft>
                <a:spcPts val="0"/>
              </a:spcAft>
              <a:buClr>
                <a:schemeClr val="dk1"/>
              </a:buClr>
              <a:buSzPts val="1100"/>
              <a:buAutoNum type="arabicPeriod"/>
            </a:pPr>
            <a:r>
              <a:rPr lang="en" u="sng">
                <a:solidFill>
                  <a:schemeClr val="dk1"/>
                </a:solidFill>
              </a:rPr>
              <a:t>API end-point</a:t>
            </a:r>
            <a:r>
              <a:rPr lang="en">
                <a:solidFill>
                  <a:schemeClr val="dk1"/>
                </a:solidFill>
              </a:rPr>
              <a:t> using FastAPI already enabled</a:t>
            </a:r>
            <a:endParaRPr>
              <a:solidFill>
                <a:schemeClr val="dk1"/>
              </a:solidFill>
            </a:endParaRPr>
          </a:p>
          <a:p>
            <a:pPr indent="-298450" lvl="0" marL="596900" rtl="0" algn="l">
              <a:lnSpc>
                <a:spcPct val="115000"/>
              </a:lnSpc>
              <a:spcBef>
                <a:spcPts val="0"/>
              </a:spcBef>
              <a:spcAft>
                <a:spcPts val="0"/>
              </a:spcAft>
              <a:buClr>
                <a:schemeClr val="dk1"/>
              </a:buClr>
              <a:buSzPts val="1100"/>
              <a:buAutoNum type="arabicPeriod"/>
            </a:pPr>
            <a:r>
              <a:rPr lang="en" u="sng">
                <a:solidFill>
                  <a:schemeClr val="dk1"/>
                </a:solidFill>
              </a:rPr>
              <a:t>Security</a:t>
            </a:r>
            <a:r>
              <a:rPr lang="en">
                <a:solidFill>
                  <a:schemeClr val="dk1"/>
                </a:solidFill>
              </a:rPr>
              <a:t> via </a:t>
            </a:r>
            <a:endParaRPr>
              <a:solidFill>
                <a:schemeClr val="dk1"/>
              </a:solidFill>
            </a:endParaRPr>
          </a:p>
          <a:p>
            <a:pPr indent="-298450" lvl="1" marL="1054100" rtl="0" algn="l">
              <a:lnSpc>
                <a:spcPct val="115000"/>
              </a:lnSpc>
              <a:spcBef>
                <a:spcPts val="0"/>
              </a:spcBef>
              <a:spcAft>
                <a:spcPts val="0"/>
              </a:spcAft>
              <a:buClr>
                <a:schemeClr val="dk1"/>
              </a:buClr>
              <a:buSzPts val="1100"/>
              <a:buAutoNum type="alphaLcPeriod"/>
            </a:pPr>
            <a:r>
              <a:rPr lang="en">
                <a:solidFill>
                  <a:schemeClr val="dk1"/>
                </a:solidFill>
              </a:rPr>
              <a:t>SSO or API key for securely giving user access or making secure API calls from front-end to back-end - TBD</a:t>
            </a:r>
            <a:endParaRPr>
              <a:solidFill>
                <a:schemeClr val="dk1"/>
              </a:solidFill>
            </a:endParaRPr>
          </a:p>
          <a:p>
            <a:pPr indent="-298450" lvl="1" marL="1054100" rtl="0" algn="l">
              <a:lnSpc>
                <a:spcPct val="115000"/>
              </a:lnSpc>
              <a:spcBef>
                <a:spcPts val="0"/>
              </a:spcBef>
              <a:spcAft>
                <a:spcPts val="0"/>
              </a:spcAft>
              <a:buClr>
                <a:schemeClr val="dk1"/>
              </a:buClr>
              <a:buSzPts val="1100"/>
              <a:buAutoNum type="alphaLcPeriod"/>
            </a:pPr>
            <a:r>
              <a:rPr lang="en">
                <a:solidFill>
                  <a:schemeClr val="dk1"/>
                </a:solidFill>
              </a:rPr>
              <a:t>Possible solution:</a:t>
            </a:r>
            <a:r>
              <a:rPr lang="en">
                <a:solidFill>
                  <a:schemeClr val="dk1"/>
                </a:solidFill>
                <a:uFill>
                  <a:noFill/>
                </a:uFill>
                <a:hlinkClick r:id="rId2">
                  <a:extLst>
                    <a:ext uri="{A12FA001-AC4F-418D-AE19-62706E023703}">
                      <ahyp:hlinkClr val="tx"/>
                    </a:ext>
                  </a:extLst>
                </a:hlinkClick>
              </a:rPr>
              <a:t> </a:t>
            </a:r>
            <a:r>
              <a:rPr lang="en" u="sng">
                <a:solidFill>
                  <a:srgbClr val="1155CC"/>
                </a:solidFill>
                <a:hlinkClick r:id="rId3">
                  <a:extLst>
                    <a:ext uri="{A12FA001-AC4F-418D-AE19-62706E023703}">
                      <ahyp:hlinkClr val="tx"/>
                    </a:ext>
                  </a:extLst>
                </a:hlinkClick>
              </a:rPr>
              <a:t>https://developers.google.com/identity/sign-in/web/sign-in</a:t>
            </a:r>
            <a:endParaRPr u="sng">
              <a:solidFill>
                <a:srgbClr val="1155CC"/>
              </a:solidFill>
            </a:endParaRPr>
          </a:p>
          <a:p>
            <a:pPr indent="-298450" lvl="1" marL="1054100" rtl="0" algn="l">
              <a:lnSpc>
                <a:spcPct val="115000"/>
              </a:lnSpc>
              <a:spcBef>
                <a:spcPts val="0"/>
              </a:spcBef>
              <a:spcAft>
                <a:spcPts val="0"/>
              </a:spcAft>
              <a:buClr>
                <a:schemeClr val="dk1"/>
              </a:buClr>
              <a:buSzPts val="1100"/>
              <a:buAutoNum type="alphaLcPeriod"/>
            </a:pPr>
            <a:r>
              <a:rPr lang="en" u="sng">
                <a:solidFill>
                  <a:srgbClr val="1155CC"/>
                </a:solidFill>
                <a:highlight>
                  <a:srgbClr val="FFF2CC"/>
                </a:highlight>
                <a:hlinkClick r:id="rId4">
                  <a:extLst>
                    <a:ext uri="{A12FA001-AC4F-418D-AE19-62706E023703}">
                      <ahyp:hlinkClr val="tx"/>
                    </a:ext>
                  </a:extLst>
                </a:hlinkClick>
              </a:rPr>
              <a:t>AI-specific RACM</a:t>
            </a:r>
            <a:endParaRPr u="sng">
              <a:solidFill>
                <a:srgbClr val="1155CC"/>
              </a:solidFill>
              <a:highlight>
                <a:srgbClr val="FFF2CC"/>
              </a:highlight>
            </a:endParaRPr>
          </a:p>
          <a:p>
            <a:pPr indent="-298450" lvl="0" marL="596900" rtl="0" algn="l">
              <a:lnSpc>
                <a:spcPct val="115000"/>
              </a:lnSpc>
              <a:spcBef>
                <a:spcPts val="0"/>
              </a:spcBef>
              <a:spcAft>
                <a:spcPts val="0"/>
              </a:spcAft>
              <a:buClr>
                <a:schemeClr val="dk1"/>
              </a:buClr>
              <a:buSzPts val="1100"/>
              <a:buAutoNum type="arabicPeriod"/>
            </a:pPr>
            <a:r>
              <a:rPr lang="en" u="sng">
                <a:solidFill>
                  <a:schemeClr val="dk1"/>
                </a:solidFill>
              </a:rPr>
              <a:t>Front-end:</a:t>
            </a:r>
            <a:endParaRPr u="sng">
              <a:solidFill>
                <a:schemeClr val="dk1"/>
              </a:solidFill>
            </a:endParaRPr>
          </a:p>
          <a:p>
            <a:pPr indent="-298450" lvl="1" marL="1054100" rtl="0" algn="l">
              <a:lnSpc>
                <a:spcPct val="115000"/>
              </a:lnSpc>
              <a:spcBef>
                <a:spcPts val="0"/>
              </a:spcBef>
              <a:spcAft>
                <a:spcPts val="0"/>
              </a:spcAft>
              <a:buClr>
                <a:schemeClr val="dk1"/>
              </a:buClr>
              <a:buSzPts val="1100"/>
              <a:buAutoNum type="alphaLcPeriod"/>
            </a:pPr>
            <a:r>
              <a:rPr lang="en">
                <a:solidFill>
                  <a:schemeClr val="dk1"/>
                </a:solidFill>
              </a:rPr>
              <a:t>Ports to be opened for StreamLit </a:t>
            </a:r>
            <a:endParaRPr>
              <a:solidFill>
                <a:schemeClr val="dk1"/>
              </a:solidFill>
            </a:endParaRPr>
          </a:p>
          <a:p>
            <a:pPr indent="-298450" lvl="1" marL="1054100" rtl="0" algn="l">
              <a:lnSpc>
                <a:spcPct val="115000"/>
              </a:lnSpc>
              <a:spcBef>
                <a:spcPts val="0"/>
              </a:spcBef>
              <a:spcAft>
                <a:spcPts val="0"/>
              </a:spcAft>
              <a:buClr>
                <a:schemeClr val="dk1"/>
              </a:buClr>
              <a:buSzPts val="1100"/>
              <a:buAutoNum type="alphaLcPeriod"/>
            </a:pPr>
            <a:r>
              <a:rPr i="1" lang="en">
                <a:solidFill>
                  <a:schemeClr val="dk1"/>
                </a:solidFill>
              </a:rPr>
              <a:t>Reverse Proxy using Nginx</a:t>
            </a:r>
            <a:r>
              <a:rPr lang="en">
                <a:solidFill>
                  <a:schemeClr val="dk1"/>
                </a:solidFill>
              </a:rPr>
              <a:t> (Also securing front-end server via HTTPS protocol) </a:t>
            </a:r>
            <a:endParaRPr>
              <a:solidFill>
                <a:schemeClr val="dk1"/>
              </a:solidFill>
            </a:endParaRPr>
          </a:p>
          <a:p>
            <a:pPr indent="-298450" lvl="1" marL="1054100" rtl="0" algn="l">
              <a:lnSpc>
                <a:spcPct val="115000"/>
              </a:lnSpc>
              <a:spcBef>
                <a:spcPts val="0"/>
              </a:spcBef>
              <a:spcAft>
                <a:spcPts val="0"/>
              </a:spcAft>
              <a:buClr>
                <a:schemeClr val="dk1"/>
              </a:buClr>
              <a:buSzPts val="1100"/>
              <a:buAutoNum type="alphaLcPeriod"/>
            </a:pPr>
            <a:r>
              <a:rPr i="1" lang="en">
                <a:solidFill>
                  <a:schemeClr val="dk1"/>
                </a:solidFill>
              </a:rPr>
              <a:t>Uvicorn server developed</a:t>
            </a:r>
            <a:r>
              <a:rPr lang="en">
                <a:solidFill>
                  <a:schemeClr val="dk1"/>
                </a:solidFill>
              </a:rPr>
              <a:t> - as per recommendation by Sr. Data Scientist at NIHR CCF </a:t>
            </a:r>
            <a:endParaRPr>
              <a:solidFill>
                <a:schemeClr val="dk1"/>
              </a:solidFill>
            </a:endParaRPr>
          </a:p>
          <a:p>
            <a:pPr indent="-298450" lvl="1" marL="1054100" rtl="0" algn="l">
              <a:lnSpc>
                <a:spcPct val="115000"/>
              </a:lnSpc>
              <a:spcBef>
                <a:spcPts val="0"/>
              </a:spcBef>
              <a:spcAft>
                <a:spcPts val="0"/>
              </a:spcAft>
              <a:buClr>
                <a:schemeClr val="dk1"/>
              </a:buClr>
              <a:buSzPts val="1100"/>
              <a:buAutoNum type="alphaLcPeriod"/>
            </a:pPr>
            <a:r>
              <a:rPr lang="en">
                <a:solidFill>
                  <a:schemeClr val="dk1"/>
                </a:solidFill>
              </a:rPr>
              <a:t>Use IIS server to expose the application to users</a:t>
            </a:r>
            <a:endParaRPr>
              <a:solidFill>
                <a:schemeClr val="dk1"/>
              </a:solidFill>
            </a:endParaRPr>
          </a:p>
          <a:p>
            <a:pPr indent="-298450" lvl="0" marL="596900" rtl="0" algn="l">
              <a:lnSpc>
                <a:spcPct val="115000"/>
              </a:lnSpc>
              <a:spcBef>
                <a:spcPts val="0"/>
              </a:spcBef>
              <a:spcAft>
                <a:spcPts val="0"/>
              </a:spcAft>
              <a:buClr>
                <a:schemeClr val="dk1"/>
              </a:buClr>
              <a:buSzPts val="1100"/>
              <a:buAutoNum type="arabicPeriod"/>
            </a:pPr>
            <a:r>
              <a:rPr lang="en" u="sng">
                <a:solidFill>
                  <a:schemeClr val="dk1"/>
                </a:solidFill>
              </a:rPr>
              <a:t>Containerization</a:t>
            </a:r>
            <a:r>
              <a:rPr lang="en">
                <a:solidFill>
                  <a:schemeClr val="dk1"/>
                </a:solidFill>
              </a:rPr>
              <a:t> using Docker - for modular deployment, more security, avoiding single point of failure, and future-proofing </a:t>
            </a:r>
            <a:endParaRPr sz="1200">
              <a:solidFill>
                <a:schemeClr val="dk1"/>
              </a:solidFill>
              <a:latin typeface="Lato"/>
              <a:ea typeface="Lato"/>
              <a:cs typeface="Lato"/>
              <a:sym typeface="La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381ab586e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381ab586e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Serif Medium"/>
              <a:buNone/>
              <a:defRPr sz="2800">
                <a:solidFill>
                  <a:schemeClr val="dk1"/>
                </a:solidFill>
                <a:latin typeface="Roboto Serif Medium"/>
                <a:ea typeface="Roboto Serif Medium"/>
                <a:cs typeface="Roboto Serif Medium"/>
                <a:sym typeface="Roboto Serif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1pPr>
            <a:lvl2pPr indent="-317500" lvl="1" marL="914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2pPr>
            <a:lvl3pPr indent="-317500" lvl="2" marL="1371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3pPr>
            <a:lvl4pPr indent="-317500" lvl="3" marL="1828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4pPr>
            <a:lvl5pPr indent="-317500" lvl="4" marL="22860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5pPr>
            <a:lvl6pPr indent="-317500" lvl="5" marL="27432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6pPr>
            <a:lvl7pPr indent="-317500" lvl="6" marL="3200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7pPr>
            <a:lvl8pPr indent="-317500" lvl="7" marL="3657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8pPr>
            <a:lvl9pPr indent="-317500" lvl="8" marL="4114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20.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sbert.net/docs/quickstart.html#sentence-transformer" TargetMode="External"/><Relationship Id="rId4" Type="http://schemas.openxmlformats.org/officeDocument/2006/relationships/hyperlink" Target="https://sbert.net/docs/quickstart.html#cross-encoder" TargetMode="External"/><Relationship Id="rId11" Type="http://schemas.openxmlformats.org/officeDocument/2006/relationships/image" Target="../media/image3.png"/><Relationship Id="rId10" Type="http://schemas.openxmlformats.org/officeDocument/2006/relationships/hyperlink" Target="https://airbyte.com/data-engineering-resources/sentence-word-embeddings" TargetMode="External"/><Relationship Id="rId9" Type="http://schemas.openxmlformats.org/officeDocument/2006/relationships/image" Target="../media/image14.png"/><Relationship Id="rId5" Type="http://schemas.openxmlformats.org/officeDocument/2006/relationships/hyperlink" Target="https://sbert.net/examples/applications/semantic-search/README.html" TargetMode="External"/><Relationship Id="rId6" Type="http://schemas.openxmlformats.org/officeDocument/2006/relationships/hyperlink" Target="https://sbert.net/docs/usage/semantic_textual_similarity.html" TargetMode="External"/><Relationship Id="rId7" Type="http://schemas.openxmlformats.org/officeDocument/2006/relationships/hyperlink" Target="https://sbert.net/examples/applications/paraphrase-mining/README.html" TargetMode="External"/><Relationship Id="rId8"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hyperlink" Target="https://www.jcchouinard.com/k-nearest-neighbors/" TargetMode="External"/><Relationship Id="rId5" Type="http://schemas.openxmlformats.org/officeDocument/2006/relationships/image" Target="../media/image12.png"/><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hyperlink" Target="https://github.com/AbhinavJindalNIHR/RAG-search" TargetMode="External"/><Relationship Id="rId5" Type="http://schemas.openxmlformats.org/officeDocument/2006/relationships/hyperlink" Target="https://streamlit.io/" TargetMode="External"/><Relationship Id="rId6" Type="http://schemas.openxmlformats.org/officeDocument/2006/relationships/hyperlink" Target="https://huggingface.co/" TargetMode="External"/><Relationship Id="rId7" Type="http://schemas.openxmlformats.org/officeDocument/2006/relationships/hyperlink" Target="https://github.com/facebookresearch/faiss" TargetMode="External"/><Relationship Id="rId8" Type="http://schemas.openxmlformats.org/officeDocument/2006/relationships/hyperlink" Target="https://github.com/UKPLab/sentence-transformer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Data Warehouse Querying using Natural Language</a:t>
            </a:r>
            <a:endParaRPr/>
          </a:p>
        </p:txBody>
      </p:sp>
      <p:pic>
        <p:nvPicPr>
          <p:cNvPr id="55" name="Google Shape;55;p13"/>
          <p:cNvPicPr preferRelativeResize="0"/>
          <p:nvPr/>
        </p:nvPicPr>
        <p:blipFill>
          <a:blip r:embed="rId3">
            <a:alphaModFix/>
          </a:blip>
          <a:stretch>
            <a:fillRect/>
          </a:stretch>
        </p:blipFill>
        <p:spPr>
          <a:xfrm>
            <a:off x="0" y="4397077"/>
            <a:ext cx="9144003" cy="660797"/>
          </a:xfrm>
          <a:prstGeom prst="rect">
            <a:avLst/>
          </a:prstGeom>
          <a:noFill/>
          <a:ln>
            <a:noFill/>
          </a:ln>
        </p:spPr>
      </p:pic>
      <p:sp>
        <p:nvSpPr>
          <p:cNvPr id="56" name="Google Shape;56;p13"/>
          <p:cNvSpPr txBox="1"/>
          <p:nvPr/>
        </p:nvSpPr>
        <p:spPr>
          <a:xfrm>
            <a:off x="1944250" y="3108725"/>
            <a:ext cx="5128500" cy="5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oboto Serif"/>
                <a:ea typeface="Roboto Serif"/>
                <a:cs typeface="Roboto Serif"/>
                <a:sym typeface="Roboto Serif"/>
              </a:rPr>
              <a:t>Abhinav Jindal (Jin)</a:t>
            </a:r>
            <a:endParaRPr b="1" sz="2400">
              <a:solidFill>
                <a:schemeClr val="dk2"/>
              </a:solidFill>
              <a:latin typeface="Roboto Serif"/>
              <a:ea typeface="Roboto Serif"/>
              <a:cs typeface="Roboto Serif"/>
              <a:sym typeface="Roboto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984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000"/>
              <a:t>Structure</a:t>
            </a:r>
            <a:endParaRPr sz="3000"/>
          </a:p>
        </p:txBody>
      </p:sp>
      <p:sp>
        <p:nvSpPr>
          <p:cNvPr id="62" name="Google Shape;62;p14"/>
          <p:cNvSpPr txBox="1"/>
          <p:nvPr>
            <p:ph idx="1" type="body"/>
          </p:nvPr>
        </p:nvSpPr>
        <p:spPr>
          <a:xfrm>
            <a:off x="311700" y="982050"/>
            <a:ext cx="4042200" cy="3179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 sz="2400"/>
              <a:t>Intro</a:t>
            </a:r>
            <a:endParaRPr sz="2400"/>
          </a:p>
          <a:p>
            <a:pPr indent="-381000" lvl="0" marL="457200" rtl="0" algn="l">
              <a:spcBef>
                <a:spcPts val="0"/>
              </a:spcBef>
              <a:spcAft>
                <a:spcPts val="0"/>
              </a:spcAft>
              <a:buSzPts val="2400"/>
              <a:buAutoNum type="arabicPeriod"/>
            </a:pPr>
            <a:r>
              <a:rPr lang="en" sz="2400"/>
              <a:t>Problem Statement</a:t>
            </a:r>
            <a:endParaRPr sz="2400"/>
          </a:p>
          <a:p>
            <a:pPr indent="-381000" lvl="0" marL="457200" rtl="0" algn="l">
              <a:spcBef>
                <a:spcPts val="0"/>
              </a:spcBef>
              <a:spcAft>
                <a:spcPts val="0"/>
              </a:spcAft>
              <a:buSzPts val="2400"/>
              <a:buAutoNum type="arabicPeriod"/>
            </a:pPr>
            <a:r>
              <a:rPr lang="en" sz="2400"/>
              <a:t>Possible solutions and methodologies</a:t>
            </a:r>
            <a:endParaRPr sz="2400"/>
          </a:p>
          <a:p>
            <a:pPr indent="-381000" lvl="0" marL="457200" rtl="0" algn="l">
              <a:spcBef>
                <a:spcPts val="0"/>
              </a:spcBef>
              <a:spcAft>
                <a:spcPts val="0"/>
              </a:spcAft>
              <a:buSzPts val="2400"/>
              <a:buAutoNum type="arabicPeriod"/>
            </a:pPr>
            <a:r>
              <a:rPr lang="en" sz="2400"/>
              <a:t>Methodology used</a:t>
            </a:r>
            <a:endParaRPr sz="2400"/>
          </a:p>
          <a:p>
            <a:pPr indent="-381000" lvl="0" marL="457200" rtl="0" algn="l">
              <a:spcBef>
                <a:spcPts val="0"/>
              </a:spcBef>
              <a:spcAft>
                <a:spcPts val="0"/>
              </a:spcAft>
              <a:buSzPts val="2400"/>
              <a:buAutoNum type="arabicPeriod"/>
            </a:pPr>
            <a:r>
              <a:rPr lang="en" sz="2400"/>
              <a:t>Results - examples</a:t>
            </a:r>
            <a:endParaRPr sz="2400"/>
          </a:p>
          <a:p>
            <a:pPr indent="-381000" lvl="0" marL="457200" rtl="0" algn="l">
              <a:spcBef>
                <a:spcPts val="0"/>
              </a:spcBef>
              <a:spcAft>
                <a:spcPts val="0"/>
              </a:spcAft>
              <a:buSzPts val="2400"/>
              <a:buAutoNum type="arabicPeriod"/>
            </a:pPr>
            <a:r>
              <a:rPr lang="en" sz="2400"/>
              <a:t>Future scope</a:t>
            </a:r>
            <a:endParaRPr sz="2400"/>
          </a:p>
          <a:p>
            <a:pPr indent="-381000" lvl="0" marL="457200" rtl="0" algn="l">
              <a:spcBef>
                <a:spcPts val="0"/>
              </a:spcBef>
              <a:spcAft>
                <a:spcPts val="0"/>
              </a:spcAft>
              <a:buSzPts val="2400"/>
              <a:buAutoNum type="arabicPeriod"/>
            </a:pPr>
            <a:r>
              <a:rPr lang="en" sz="2400"/>
              <a:t>QnA</a:t>
            </a:r>
            <a:endParaRPr sz="2400"/>
          </a:p>
        </p:txBody>
      </p:sp>
      <p:pic>
        <p:nvPicPr>
          <p:cNvPr id="63" name="Google Shape;63;p14"/>
          <p:cNvPicPr preferRelativeResize="0"/>
          <p:nvPr/>
        </p:nvPicPr>
        <p:blipFill>
          <a:blip r:embed="rId3">
            <a:alphaModFix/>
          </a:blip>
          <a:stretch>
            <a:fillRect/>
          </a:stretch>
        </p:blipFill>
        <p:spPr>
          <a:xfrm>
            <a:off x="0" y="4422302"/>
            <a:ext cx="9144003" cy="6607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64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The problem</a:t>
            </a:r>
            <a:endParaRPr sz="3020"/>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2400">
                <a:solidFill>
                  <a:srgbClr val="414141"/>
                </a:solidFill>
                <a:highlight>
                  <a:srgbClr val="FFFFFF"/>
                </a:highlight>
              </a:rPr>
              <a:t>The current process for reporting on the health information linked to NIHR RDN portfolio is very </a:t>
            </a:r>
            <a:r>
              <a:rPr b="1" lang="en" sz="2400">
                <a:solidFill>
                  <a:srgbClr val="414141"/>
                </a:solidFill>
                <a:highlight>
                  <a:srgbClr val="FFFFFF"/>
                </a:highlight>
              </a:rPr>
              <a:t>time-consuming, labour-intensive</a:t>
            </a:r>
            <a:r>
              <a:rPr lang="en" sz="2400">
                <a:solidFill>
                  <a:srgbClr val="414141"/>
                </a:solidFill>
                <a:highlight>
                  <a:srgbClr val="FFFFFF"/>
                </a:highlight>
              </a:rPr>
              <a:t>, and prone to </a:t>
            </a:r>
            <a:r>
              <a:rPr b="1" lang="en" sz="2400">
                <a:solidFill>
                  <a:srgbClr val="414141"/>
                </a:solidFill>
                <a:highlight>
                  <a:srgbClr val="FFFFFF"/>
                </a:highlight>
              </a:rPr>
              <a:t>human error</a:t>
            </a:r>
            <a:r>
              <a:rPr lang="en" sz="2400">
                <a:solidFill>
                  <a:srgbClr val="414141"/>
                </a:solidFill>
                <a:highlight>
                  <a:srgbClr val="FFFFFF"/>
                </a:highlight>
              </a:rPr>
              <a:t>. We run queries in SQL Server to retrieve information. This presents a word-for-word return based on exact string matches, and loses </a:t>
            </a:r>
            <a:r>
              <a:rPr b="1" lang="en" sz="2400">
                <a:solidFill>
                  <a:srgbClr val="414141"/>
                </a:solidFill>
                <a:highlight>
                  <a:srgbClr val="FFFFFF"/>
                </a:highlight>
              </a:rPr>
              <a:t>records with similar meaning</a:t>
            </a:r>
            <a:r>
              <a:rPr lang="en" sz="2400">
                <a:solidFill>
                  <a:srgbClr val="414141"/>
                </a:solidFill>
                <a:highlight>
                  <a:srgbClr val="FFFFFF"/>
                </a:highlight>
              </a:rPr>
              <a:t> i.e. semantic context is lost. </a:t>
            </a:r>
            <a:endParaRPr sz="2400"/>
          </a:p>
          <a:p>
            <a:pPr indent="0" lvl="0" marL="0" rtl="0" algn="l">
              <a:spcBef>
                <a:spcPts val="1200"/>
              </a:spcBef>
              <a:spcAft>
                <a:spcPts val="1200"/>
              </a:spcAft>
              <a:buNone/>
            </a:pPr>
            <a:r>
              <a:t/>
            </a:r>
            <a:endParaRPr sz="2400"/>
          </a:p>
        </p:txBody>
      </p:sp>
      <p:pic>
        <p:nvPicPr>
          <p:cNvPr id="70" name="Google Shape;70;p15"/>
          <p:cNvPicPr preferRelativeResize="0"/>
          <p:nvPr/>
        </p:nvPicPr>
        <p:blipFill>
          <a:blip r:embed="rId3">
            <a:alphaModFix/>
          </a:blip>
          <a:stretch>
            <a:fillRect/>
          </a:stretch>
        </p:blipFill>
        <p:spPr>
          <a:xfrm>
            <a:off x="0" y="4607625"/>
            <a:ext cx="9144003" cy="475475"/>
          </a:xfrm>
          <a:prstGeom prst="rect">
            <a:avLst/>
          </a:prstGeom>
          <a:noFill/>
          <a:ln>
            <a:noFill/>
          </a:ln>
        </p:spPr>
      </p:pic>
      <p:pic>
        <p:nvPicPr>
          <p:cNvPr descr="SQL Query example for keyword search" id="71" name="Google Shape;71;p15"/>
          <p:cNvPicPr preferRelativeResize="0"/>
          <p:nvPr/>
        </p:nvPicPr>
        <p:blipFill>
          <a:blip r:embed="rId4">
            <a:alphaModFix/>
          </a:blip>
          <a:stretch>
            <a:fillRect/>
          </a:stretch>
        </p:blipFill>
        <p:spPr>
          <a:xfrm>
            <a:off x="441175" y="737475"/>
            <a:ext cx="8520600" cy="4754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265500" y="949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Inception</a:t>
            </a:r>
            <a:endParaRPr/>
          </a:p>
        </p:txBody>
      </p:sp>
      <p:sp>
        <p:nvSpPr>
          <p:cNvPr id="77" name="Google Shape;77;p1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t>‘Exploratory </a:t>
            </a:r>
            <a:r>
              <a:rPr lang="en" sz="2400"/>
              <a:t>analysis</a:t>
            </a:r>
            <a:r>
              <a:rPr lang="en" sz="2400"/>
              <a:t>’ </a:t>
            </a:r>
            <a:endParaRPr sz="2400"/>
          </a:p>
        </p:txBody>
      </p:sp>
      <p:pic>
        <p:nvPicPr>
          <p:cNvPr descr="Team from NHS AI Hackathon in Health 2024 " id="78" name="Google Shape;78;p16" title="PXL_20240524_121221837.jpg"/>
          <p:cNvPicPr preferRelativeResize="0"/>
          <p:nvPr/>
        </p:nvPicPr>
        <p:blipFill>
          <a:blip r:embed="rId3">
            <a:alphaModFix/>
          </a:blip>
          <a:stretch>
            <a:fillRect/>
          </a:stretch>
        </p:blipFill>
        <p:spPr>
          <a:xfrm>
            <a:off x="4615175" y="949163"/>
            <a:ext cx="4455700" cy="3341775"/>
          </a:xfrm>
          <a:prstGeom prst="rect">
            <a:avLst/>
          </a:prstGeom>
          <a:noFill/>
          <a:ln>
            <a:noFill/>
          </a:ln>
        </p:spPr>
      </p:pic>
      <p:pic>
        <p:nvPicPr>
          <p:cNvPr id="79" name="Google Shape;79;p16"/>
          <p:cNvPicPr preferRelativeResize="0"/>
          <p:nvPr/>
        </p:nvPicPr>
        <p:blipFill>
          <a:blip r:embed="rId4">
            <a:alphaModFix/>
          </a:blip>
          <a:stretch>
            <a:fillRect/>
          </a:stretch>
        </p:blipFill>
        <p:spPr>
          <a:xfrm>
            <a:off x="0" y="4422302"/>
            <a:ext cx="9144003" cy="6607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a:t>Why did I look elsewhere?</a:t>
            </a:r>
            <a:endParaRPr/>
          </a:p>
        </p:txBody>
      </p:sp>
      <p:sp>
        <p:nvSpPr>
          <p:cNvPr id="85" name="Google Shape;85;p17"/>
          <p:cNvSpPr txBox="1"/>
          <p:nvPr>
            <p:ph idx="2" type="body"/>
          </p:nvPr>
        </p:nvSpPr>
        <p:spPr>
          <a:xfrm>
            <a:off x="4939500" y="435000"/>
            <a:ext cx="3837000" cy="3695100"/>
          </a:xfrm>
          <a:prstGeom prst="rect">
            <a:avLst/>
          </a:prstGeom>
        </p:spPr>
        <p:txBody>
          <a:bodyPr anchorCtr="0" anchor="ctr" bIns="91425" lIns="91425" spcFirstLastPara="1" rIns="91425" wrap="square" tIns="91425">
            <a:normAutofit/>
          </a:bodyPr>
          <a:lstStyle/>
          <a:p>
            <a:pPr indent="-381000" lvl="0" marL="457200" rtl="0" algn="l">
              <a:spcBef>
                <a:spcPts val="0"/>
              </a:spcBef>
              <a:spcAft>
                <a:spcPts val="0"/>
              </a:spcAft>
              <a:buSzPts val="2400"/>
              <a:buChar char="●"/>
            </a:pPr>
            <a:r>
              <a:rPr lang="en" sz="2400"/>
              <a:t>Complexity</a:t>
            </a:r>
            <a:endParaRPr sz="2400"/>
          </a:p>
          <a:p>
            <a:pPr indent="-381000" lvl="0" marL="457200" rtl="0" algn="l">
              <a:spcBef>
                <a:spcPts val="0"/>
              </a:spcBef>
              <a:spcAft>
                <a:spcPts val="0"/>
              </a:spcAft>
              <a:buSzPts val="2400"/>
              <a:buChar char="●"/>
            </a:pPr>
            <a:r>
              <a:rPr lang="en" sz="2400"/>
              <a:t>not FOSS</a:t>
            </a:r>
            <a:endParaRPr sz="2400"/>
          </a:p>
          <a:p>
            <a:pPr indent="-381000" lvl="0" marL="457200" rtl="0" algn="l">
              <a:spcBef>
                <a:spcPts val="0"/>
              </a:spcBef>
              <a:spcAft>
                <a:spcPts val="0"/>
              </a:spcAft>
              <a:buSzPts val="2400"/>
              <a:buChar char="●"/>
            </a:pPr>
            <a:r>
              <a:rPr lang="en" sz="2400"/>
              <a:t>Resource hungry models</a:t>
            </a:r>
            <a:endParaRPr sz="2400"/>
          </a:p>
          <a:p>
            <a:pPr indent="0" lvl="0" marL="0" rtl="0" algn="l">
              <a:spcBef>
                <a:spcPts val="1200"/>
              </a:spcBef>
              <a:spcAft>
                <a:spcPts val="1200"/>
              </a:spcAft>
              <a:buNone/>
            </a:pPr>
            <a:r>
              <a:t/>
            </a:r>
            <a:endParaRPr sz="2400"/>
          </a:p>
        </p:txBody>
      </p:sp>
      <p:sp>
        <p:nvSpPr>
          <p:cNvPr id="86" name="Google Shape;86;p1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2400"/>
              <a:t>Simple problems require simple solutions</a:t>
            </a:r>
            <a:endParaRPr sz="2400"/>
          </a:p>
        </p:txBody>
      </p:sp>
      <p:pic>
        <p:nvPicPr>
          <p:cNvPr id="87" name="Google Shape;87;p17"/>
          <p:cNvPicPr preferRelativeResize="0"/>
          <p:nvPr/>
        </p:nvPicPr>
        <p:blipFill>
          <a:blip r:embed="rId3">
            <a:alphaModFix/>
          </a:blip>
          <a:stretch>
            <a:fillRect/>
          </a:stretch>
        </p:blipFill>
        <p:spPr>
          <a:xfrm>
            <a:off x="0" y="4422302"/>
            <a:ext cx="9144003" cy="66079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265500" y="1233175"/>
            <a:ext cx="4045200" cy="2598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Retrieval Augmented Generation</a:t>
            </a:r>
            <a:endParaRPr/>
          </a:p>
          <a:p>
            <a:pPr indent="0" lvl="0" marL="0" rtl="0" algn="ctr">
              <a:spcBef>
                <a:spcPts val="0"/>
              </a:spcBef>
              <a:spcAft>
                <a:spcPts val="0"/>
              </a:spcAft>
              <a:buNone/>
            </a:pPr>
            <a:r>
              <a:rPr lang="en"/>
              <a:t>(RAG)</a:t>
            </a:r>
            <a:endParaRPr/>
          </a:p>
        </p:txBody>
      </p:sp>
      <p:sp>
        <p:nvSpPr>
          <p:cNvPr id="93" name="Google Shape;93;p18"/>
          <p:cNvSpPr txBox="1"/>
          <p:nvPr/>
        </p:nvSpPr>
        <p:spPr>
          <a:xfrm>
            <a:off x="5609475" y="3644900"/>
            <a:ext cx="3027300" cy="6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2"/>
                </a:solidFill>
                <a:latin typeface="Roboto Serif Thin"/>
                <a:ea typeface="Roboto Serif Thin"/>
                <a:cs typeface="Roboto Serif Thin"/>
                <a:sym typeface="Roboto Serif Thin"/>
              </a:rPr>
              <a:t>Fig. 1: Original RAG model</a:t>
            </a:r>
            <a:endParaRPr sz="1900">
              <a:solidFill>
                <a:schemeClr val="dk2"/>
              </a:solidFill>
              <a:latin typeface="Roboto Serif Thin"/>
              <a:ea typeface="Roboto Serif Thin"/>
              <a:cs typeface="Roboto Serif Thin"/>
              <a:sym typeface="Roboto Serif Thin"/>
            </a:endParaRPr>
          </a:p>
        </p:txBody>
      </p:sp>
      <p:pic>
        <p:nvPicPr>
          <p:cNvPr descr="RAG block diagram" id="94" name="Google Shape;94;p18"/>
          <p:cNvPicPr preferRelativeResize="0"/>
          <p:nvPr/>
        </p:nvPicPr>
        <p:blipFill>
          <a:blip r:embed="rId3">
            <a:alphaModFix/>
          </a:blip>
          <a:stretch>
            <a:fillRect/>
          </a:stretch>
        </p:blipFill>
        <p:spPr>
          <a:xfrm>
            <a:off x="5609475" y="1547800"/>
            <a:ext cx="2900701" cy="1640050"/>
          </a:xfrm>
          <a:prstGeom prst="rect">
            <a:avLst/>
          </a:prstGeom>
          <a:noFill/>
          <a:ln>
            <a:noFill/>
          </a:ln>
        </p:spPr>
      </p:pic>
      <p:pic>
        <p:nvPicPr>
          <p:cNvPr id="95" name="Google Shape;95;p18"/>
          <p:cNvPicPr preferRelativeResize="0"/>
          <p:nvPr/>
        </p:nvPicPr>
        <p:blipFill>
          <a:blip r:embed="rId4">
            <a:alphaModFix/>
          </a:blip>
          <a:stretch>
            <a:fillRect/>
          </a:stretch>
        </p:blipFill>
        <p:spPr>
          <a:xfrm>
            <a:off x="0" y="4422302"/>
            <a:ext cx="9144003" cy="6607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solution:</a:t>
            </a:r>
            <a:endParaRPr/>
          </a:p>
        </p:txBody>
      </p:sp>
      <p:sp>
        <p:nvSpPr>
          <p:cNvPr id="101" name="Google Shape;101;p1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lnSpcReduction="20000"/>
          </a:bodyPr>
          <a:lstStyle/>
          <a:p>
            <a:pPr indent="-381000" lvl="0" marL="457200" rtl="0" algn="l">
              <a:spcBef>
                <a:spcPts val="0"/>
              </a:spcBef>
              <a:spcAft>
                <a:spcPts val="0"/>
              </a:spcAft>
              <a:buSzPts val="2400"/>
              <a:buChar char="●"/>
            </a:pPr>
            <a:r>
              <a:rPr lang="en" sz="2400"/>
              <a:t>User inputs query</a:t>
            </a:r>
            <a:endParaRPr sz="2400"/>
          </a:p>
          <a:p>
            <a:pPr indent="-381000" lvl="0" marL="457200" rtl="0" algn="l">
              <a:spcBef>
                <a:spcPts val="0"/>
              </a:spcBef>
              <a:spcAft>
                <a:spcPts val="0"/>
              </a:spcAft>
              <a:buSzPts val="2400"/>
              <a:buChar char="●"/>
            </a:pPr>
            <a:r>
              <a:rPr lang="en" sz="2400"/>
              <a:t>System outputs relevant healthcare research programmes data</a:t>
            </a:r>
            <a:endParaRPr sz="2400"/>
          </a:p>
          <a:p>
            <a:pPr indent="-381000" lvl="0" marL="457200" rtl="0" algn="l">
              <a:spcBef>
                <a:spcPts val="0"/>
              </a:spcBef>
              <a:spcAft>
                <a:spcPts val="0"/>
              </a:spcAft>
              <a:buSzPts val="2400"/>
              <a:buChar char="●"/>
            </a:pPr>
            <a:r>
              <a:rPr lang="en" sz="2400"/>
              <a:t>Automated approach with - human in loop</a:t>
            </a:r>
            <a:endParaRPr sz="2400"/>
          </a:p>
          <a:p>
            <a:pPr indent="-381000" lvl="0" marL="457200" rtl="0" algn="l">
              <a:spcBef>
                <a:spcPts val="0"/>
              </a:spcBef>
              <a:spcAft>
                <a:spcPts val="0"/>
              </a:spcAft>
              <a:buSzPts val="2400"/>
              <a:buChar char="●"/>
            </a:pPr>
            <a:r>
              <a:rPr lang="en" sz="2400"/>
              <a:t>Less time, effort, manual verification</a:t>
            </a:r>
            <a:endParaRPr sz="2400"/>
          </a:p>
        </p:txBody>
      </p:sp>
      <p:pic>
        <p:nvPicPr>
          <p:cNvPr id="102" name="Google Shape;102;p19"/>
          <p:cNvPicPr preferRelativeResize="0"/>
          <p:nvPr/>
        </p:nvPicPr>
        <p:blipFill>
          <a:blip r:embed="rId3">
            <a:alphaModFix/>
          </a:blip>
          <a:stretch>
            <a:fillRect/>
          </a:stretch>
        </p:blipFill>
        <p:spPr>
          <a:xfrm>
            <a:off x="0" y="4397077"/>
            <a:ext cx="9144003" cy="660797"/>
          </a:xfrm>
          <a:prstGeom prst="rect">
            <a:avLst/>
          </a:prstGeom>
          <a:noFill/>
          <a:ln>
            <a:noFill/>
          </a:ln>
        </p:spPr>
      </p:pic>
      <p:sp>
        <p:nvSpPr>
          <p:cNvPr id="103" name="Google Shape;103;p1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t>A ‘Google’ search for databases</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flow:</a:t>
            </a:r>
            <a:endParaRPr/>
          </a:p>
        </p:txBody>
      </p:sp>
      <p:sp>
        <p:nvSpPr>
          <p:cNvPr id="109" name="Google Shape;109;p20"/>
          <p:cNvSpPr txBox="1"/>
          <p:nvPr>
            <p:ph idx="1" type="body"/>
          </p:nvPr>
        </p:nvSpPr>
        <p:spPr>
          <a:xfrm>
            <a:off x="390800" y="1134600"/>
            <a:ext cx="6051300" cy="268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10" name="Google Shape;110;p20"/>
          <p:cNvPicPr preferRelativeResize="0"/>
          <p:nvPr/>
        </p:nvPicPr>
        <p:blipFill>
          <a:blip r:embed="rId3">
            <a:alphaModFix/>
          </a:blip>
          <a:stretch>
            <a:fillRect/>
          </a:stretch>
        </p:blipFill>
        <p:spPr>
          <a:xfrm>
            <a:off x="787450" y="1248200"/>
            <a:ext cx="7733299" cy="2823725"/>
          </a:xfrm>
          <a:prstGeom prst="rect">
            <a:avLst/>
          </a:prstGeom>
          <a:noFill/>
          <a:ln>
            <a:noFill/>
          </a:ln>
        </p:spPr>
      </p:pic>
      <p:pic>
        <p:nvPicPr>
          <p:cNvPr id="111" name="Google Shape;111;p20"/>
          <p:cNvPicPr preferRelativeResize="0"/>
          <p:nvPr/>
        </p:nvPicPr>
        <p:blipFill>
          <a:blip r:embed="rId4">
            <a:alphaModFix/>
          </a:blip>
          <a:stretch>
            <a:fillRect/>
          </a:stretch>
        </p:blipFill>
        <p:spPr>
          <a:xfrm>
            <a:off x="0" y="4430752"/>
            <a:ext cx="9144003" cy="66079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Methodology</a:t>
            </a:r>
            <a:endParaRPr/>
          </a:p>
        </p:txBody>
      </p:sp>
      <p:pic>
        <p:nvPicPr>
          <p:cNvPr id="117" name="Google Shape;117;p21"/>
          <p:cNvPicPr preferRelativeResize="0"/>
          <p:nvPr/>
        </p:nvPicPr>
        <p:blipFill>
          <a:blip r:embed="rId3">
            <a:alphaModFix/>
          </a:blip>
          <a:stretch>
            <a:fillRect/>
          </a:stretch>
        </p:blipFill>
        <p:spPr>
          <a:xfrm>
            <a:off x="0" y="4397077"/>
            <a:ext cx="9144003" cy="6607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362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Methodology Used</a:t>
            </a:r>
            <a:endParaRPr sz="3020"/>
          </a:p>
        </p:txBody>
      </p:sp>
      <p:sp>
        <p:nvSpPr>
          <p:cNvPr id="123" name="Google Shape;123;p22"/>
          <p:cNvSpPr txBox="1"/>
          <p:nvPr/>
        </p:nvSpPr>
        <p:spPr>
          <a:xfrm>
            <a:off x="1642525" y="4000350"/>
            <a:ext cx="71901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Serif Thin"/>
                <a:ea typeface="Roboto Serif Thin"/>
                <a:cs typeface="Roboto Serif Thin"/>
                <a:sym typeface="Roboto Serif Thin"/>
              </a:rPr>
              <a:t>Fig. 2: Finalized RAG - Semantic Search model</a:t>
            </a:r>
            <a:endParaRPr sz="1600">
              <a:solidFill>
                <a:schemeClr val="dk2"/>
              </a:solidFill>
              <a:latin typeface="Roboto Serif Thin"/>
              <a:ea typeface="Roboto Serif Thin"/>
              <a:cs typeface="Roboto Serif Thin"/>
              <a:sym typeface="Roboto Serif Thin"/>
            </a:endParaRPr>
          </a:p>
        </p:txBody>
      </p:sp>
      <p:pic>
        <p:nvPicPr>
          <p:cNvPr id="124" name="Google Shape;124;p22"/>
          <p:cNvPicPr preferRelativeResize="0"/>
          <p:nvPr/>
        </p:nvPicPr>
        <p:blipFill>
          <a:blip r:embed="rId3">
            <a:alphaModFix/>
          </a:blip>
          <a:stretch>
            <a:fillRect/>
          </a:stretch>
        </p:blipFill>
        <p:spPr>
          <a:xfrm>
            <a:off x="0" y="4422302"/>
            <a:ext cx="9144003" cy="660797"/>
          </a:xfrm>
          <a:prstGeom prst="rect">
            <a:avLst/>
          </a:prstGeom>
          <a:noFill/>
          <a:ln>
            <a:noFill/>
          </a:ln>
        </p:spPr>
      </p:pic>
      <p:pic>
        <p:nvPicPr>
          <p:cNvPr descr="RAG model - program components - high level" id="125" name="Google Shape;125;p22"/>
          <p:cNvPicPr preferRelativeResize="0"/>
          <p:nvPr/>
        </p:nvPicPr>
        <p:blipFill>
          <a:blip r:embed="rId4">
            <a:alphaModFix/>
          </a:blip>
          <a:stretch>
            <a:fillRect/>
          </a:stretch>
        </p:blipFill>
        <p:spPr>
          <a:xfrm>
            <a:off x="1502263" y="935100"/>
            <a:ext cx="6566834" cy="3065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3"/>
          <p:cNvPicPr preferRelativeResize="0"/>
          <p:nvPr/>
        </p:nvPicPr>
        <p:blipFill>
          <a:blip r:embed="rId3">
            <a:alphaModFix/>
          </a:blip>
          <a:stretch>
            <a:fillRect/>
          </a:stretch>
        </p:blipFill>
        <p:spPr>
          <a:xfrm>
            <a:off x="152400" y="4371650"/>
            <a:ext cx="8839204" cy="638771"/>
          </a:xfrm>
          <a:prstGeom prst="rect">
            <a:avLst/>
          </a:prstGeom>
          <a:noFill/>
          <a:ln>
            <a:noFill/>
          </a:ln>
        </p:spPr>
      </p:pic>
      <p:sp>
        <p:nvSpPr>
          <p:cNvPr id="131" name="Google Shape;131;p23"/>
          <p:cNvSpPr txBox="1"/>
          <p:nvPr>
            <p:ph type="title"/>
          </p:nvPr>
        </p:nvSpPr>
        <p:spPr>
          <a:xfrm>
            <a:off x="311700" y="445025"/>
            <a:ext cx="2702400" cy="111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Data flow</a:t>
            </a:r>
            <a:endParaRPr sz="3000"/>
          </a:p>
        </p:txBody>
      </p:sp>
      <p:pic>
        <p:nvPicPr>
          <p:cNvPr descr="Data flow diagram made using Lucid" id="132" name="Google Shape;132;p23"/>
          <p:cNvPicPr preferRelativeResize="0"/>
          <p:nvPr/>
        </p:nvPicPr>
        <p:blipFill>
          <a:blip r:embed="rId4">
            <a:alphaModFix/>
          </a:blip>
          <a:stretch>
            <a:fillRect/>
          </a:stretch>
        </p:blipFill>
        <p:spPr>
          <a:xfrm>
            <a:off x="3247600" y="297850"/>
            <a:ext cx="3182825" cy="4547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273600" y="377800"/>
            <a:ext cx="4404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CI/CD Pipeline</a:t>
            </a:r>
            <a:endParaRPr sz="3000"/>
          </a:p>
        </p:txBody>
      </p:sp>
      <p:pic>
        <p:nvPicPr>
          <p:cNvPr descr="CI/CD pipeline approach - flow diagram created using Lucid. " id="138" name="Google Shape;138;p24"/>
          <p:cNvPicPr preferRelativeResize="0"/>
          <p:nvPr/>
        </p:nvPicPr>
        <p:blipFill>
          <a:blip r:embed="rId3">
            <a:alphaModFix/>
          </a:blip>
          <a:stretch>
            <a:fillRect/>
          </a:stretch>
        </p:blipFill>
        <p:spPr>
          <a:xfrm>
            <a:off x="1426625" y="1133500"/>
            <a:ext cx="7225251" cy="3465775"/>
          </a:xfrm>
          <a:prstGeom prst="rect">
            <a:avLst/>
          </a:prstGeom>
          <a:noFill/>
          <a:ln>
            <a:noFill/>
          </a:ln>
        </p:spPr>
      </p:pic>
      <p:pic>
        <p:nvPicPr>
          <p:cNvPr id="139" name="Google Shape;139;p24"/>
          <p:cNvPicPr preferRelativeResize="0"/>
          <p:nvPr/>
        </p:nvPicPr>
        <p:blipFill>
          <a:blip r:embed="rId4">
            <a:alphaModFix/>
          </a:blip>
          <a:stretch>
            <a:fillRect/>
          </a:stretch>
        </p:blipFill>
        <p:spPr>
          <a:xfrm>
            <a:off x="0" y="4397077"/>
            <a:ext cx="9144003" cy="6607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555600"/>
            <a:ext cx="5712300" cy="755700"/>
          </a:xfrm>
          <a:prstGeom prst="rect">
            <a:avLst/>
          </a:prstGeom>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sz="3000"/>
              <a:t>Sentence Transformers (SBERT)</a:t>
            </a:r>
            <a:endParaRPr sz="3000"/>
          </a:p>
        </p:txBody>
      </p:sp>
      <p:sp>
        <p:nvSpPr>
          <p:cNvPr id="145" name="Google Shape;145;p25"/>
          <p:cNvSpPr txBox="1"/>
          <p:nvPr>
            <p:ph idx="1" type="body"/>
          </p:nvPr>
        </p:nvSpPr>
        <p:spPr>
          <a:xfrm>
            <a:off x="311700" y="1311300"/>
            <a:ext cx="4620000" cy="2939400"/>
          </a:xfrm>
          <a:prstGeom prst="rect">
            <a:avLst/>
          </a:prstGeom>
        </p:spPr>
        <p:txBody>
          <a:bodyPr anchorCtr="0" anchor="t" bIns="91425" lIns="91425" spcFirstLastPara="1" rIns="91425" wrap="square" tIns="91425">
            <a:noAutofit/>
          </a:bodyPr>
          <a:lstStyle/>
          <a:p>
            <a:pPr indent="-342900" lvl="0" marL="457200" rtl="0" algn="l">
              <a:lnSpc>
                <a:spcPct val="90000"/>
              </a:lnSpc>
              <a:spcBef>
                <a:spcPts val="0"/>
              </a:spcBef>
              <a:spcAft>
                <a:spcPts val="0"/>
              </a:spcAft>
              <a:buSzPts val="1800"/>
              <a:buChar char="●"/>
            </a:pPr>
            <a:r>
              <a:rPr lang="en" sz="1800">
                <a:solidFill>
                  <a:srgbClr val="404040"/>
                </a:solidFill>
                <a:highlight>
                  <a:srgbClr val="FCFCFC"/>
                </a:highlight>
              </a:rPr>
              <a:t>go-to Python module for text and image embedding models</a:t>
            </a:r>
            <a:endParaRPr sz="1800">
              <a:solidFill>
                <a:srgbClr val="404040"/>
              </a:solidFill>
              <a:highlight>
                <a:srgbClr val="FCFCFC"/>
              </a:highlight>
            </a:endParaRPr>
          </a:p>
          <a:p>
            <a:pPr indent="-342900" lvl="0" marL="457200" rtl="0" algn="l">
              <a:lnSpc>
                <a:spcPct val="90000"/>
              </a:lnSpc>
              <a:spcBef>
                <a:spcPts val="0"/>
              </a:spcBef>
              <a:spcAft>
                <a:spcPts val="0"/>
              </a:spcAft>
              <a:buSzPts val="1800"/>
              <a:buChar char="●"/>
            </a:pPr>
            <a:r>
              <a:rPr lang="en" sz="1800">
                <a:solidFill>
                  <a:srgbClr val="404040"/>
                </a:solidFill>
                <a:highlight>
                  <a:srgbClr val="FCFCFC"/>
                </a:highlight>
              </a:rPr>
              <a:t>It can compute embeddings (</a:t>
            </a:r>
            <a:r>
              <a:rPr lang="en" sz="1800">
                <a:solidFill>
                  <a:srgbClr val="2980B9"/>
                </a:solidFill>
                <a:highlight>
                  <a:srgbClr val="FCFCFC"/>
                </a:highlight>
                <a:uFill>
                  <a:noFill/>
                </a:uFill>
                <a:hlinkClick r:id="rId3">
                  <a:extLst>
                    <a:ext uri="{A12FA001-AC4F-418D-AE19-62706E023703}">
                      <ahyp:hlinkClr val="tx"/>
                    </a:ext>
                  </a:extLst>
                </a:hlinkClick>
              </a:rPr>
              <a:t>quickstart</a:t>
            </a:r>
            <a:r>
              <a:rPr lang="en" sz="1800">
                <a:solidFill>
                  <a:srgbClr val="404040"/>
                </a:solidFill>
                <a:highlight>
                  <a:srgbClr val="FCFCFC"/>
                </a:highlight>
              </a:rPr>
              <a:t>)</a:t>
            </a:r>
            <a:endParaRPr sz="1800">
              <a:solidFill>
                <a:srgbClr val="404040"/>
              </a:solidFill>
              <a:highlight>
                <a:srgbClr val="FCFCFC"/>
              </a:highlight>
            </a:endParaRPr>
          </a:p>
          <a:p>
            <a:pPr indent="-342900" lvl="0" marL="457200" rtl="0" algn="l">
              <a:lnSpc>
                <a:spcPct val="90000"/>
              </a:lnSpc>
              <a:spcBef>
                <a:spcPts val="0"/>
              </a:spcBef>
              <a:spcAft>
                <a:spcPts val="0"/>
              </a:spcAft>
              <a:buSzPts val="1800"/>
              <a:buChar char="●"/>
            </a:pPr>
            <a:r>
              <a:rPr lang="en" sz="1800">
                <a:solidFill>
                  <a:srgbClr val="404040"/>
                </a:solidFill>
                <a:highlight>
                  <a:srgbClr val="FCFCFC"/>
                </a:highlight>
              </a:rPr>
              <a:t>calculate similarity scores using Cross-Encoder models (</a:t>
            </a:r>
            <a:r>
              <a:rPr lang="en" sz="1800">
                <a:solidFill>
                  <a:srgbClr val="2980B9"/>
                </a:solidFill>
                <a:highlight>
                  <a:srgbClr val="FCFCFC"/>
                </a:highlight>
                <a:uFill>
                  <a:noFill/>
                </a:uFill>
                <a:hlinkClick r:id="rId4">
                  <a:extLst>
                    <a:ext uri="{A12FA001-AC4F-418D-AE19-62706E023703}">
                      <ahyp:hlinkClr val="tx"/>
                    </a:ext>
                  </a:extLst>
                </a:hlinkClick>
              </a:rPr>
              <a:t>quickstart</a:t>
            </a:r>
            <a:r>
              <a:rPr lang="en" sz="1800">
                <a:solidFill>
                  <a:srgbClr val="404040"/>
                </a:solidFill>
                <a:highlight>
                  <a:srgbClr val="FCFCFC"/>
                </a:highlight>
              </a:rPr>
              <a:t>)</a:t>
            </a:r>
            <a:endParaRPr sz="1800">
              <a:solidFill>
                <a:srgbClr val="404040"/>
              </a:solidFill>
              <a:highlight>
                <a:srgbClr val="FCFCFC"/>
              </a:highlight>
            </a:endParaRPr>
          </a:p>
          <a:p>
            <a:pPr indent="-342900" lvl="0" marL="457200" rtl="0" algn="l">
              <a:lnSpc>
                <a:spcPct val="90000"/>
              </a:lnSpc>
              <a:spcBef>
                <a:spcPts val="0"/>
              </a:spcBef>
              <a:spcAft>
                <a:spcPts val="0"/>
              </a:spcAft>
              <a:buSzPts val="1800"/>
              <a:buChar char="●"/>
            </a:pPr>
            <a:r>
              <a:rPr lang="en" sz="1800">
                <a:solidFill>
                  <a:srgbClr val="404040"/>
                </a:solidFill>
                <a:highlight>
                  <a:srgbClr val="FCFCFC"/>
                </a:highlight>
              </a:rPr>
              <a:t>applications, including </a:t>
            </a:r>
            <a:r>
              <a:rPr lang="en" sz="1800">
                <a:solidFill>
                  <a:srgbClr val="2980B9"/>
                </a:solidFill>
                <a:highlight>
                  <a:srgbClr val="FCFCFC"/>
                </a:highlight>
                <a:uFill>
                  <a:noFill/>
                </a:uFill>
                <a:hlinkClick r:id="rId5">
                  <a:extLst>
                    <a:ext uri="{A12FA001-AC4F-418D-AE19-62706E023703}">
                      <ahyp:hlinkClr val="tx"/>
                    </a:ext>
                  </a:extLst>
                </a:hlinkClick>
              </a:rPr>
              <a:t>semantic search</a:t>
            </a:r>
            <a:r>
              <a:rPr lang="en" sz="1800">
                <a:solidFill>
                  <a:srgbClr val="404040"/>
                </a:solidFill>
                <a:highlight>
                  <a:srgbClr val="FCFCFC"/>
                </a:highlight>
              </a:rPr>
              <a:t>, </a:t>
            </a:r>
            <a:r>
              <a:rPr lang="en" sz="1800">
                <a:solidFill>
                  <a:srgbClr val="2980B9"/>
                </a:solidFill>
                <a:highlight>
                  <a:srgbClr val="FCFCFC"/>
                </a:highlight>
                <a:uFill>
                  <a:noFill/>
                </a:uFill>
                <a:hlinkClick r:id="rId6">
                  <a:extLst>
                    <a:ext uri="{A12FA001-AC4F-418D-AE19-62706E023703}">
                      <ahyp:hlinkClr val="tx"/>
                    </a:ext>
                  </a:extLst>
                </a:hlinkClick>
              </a:rPr>
              <a:t>semantic textual similarity</a:t>
            </a:r>
            <a:r>
              <a:rPr lang="en" sz="1800">
                <a:solidFill>
                  <a:srgbClr val="404040"/>
                </a:solidFill>
                <a:highlight>
                  <a:srgbClr val="FCFCFC"/>
                </a:highlight>
              </a:rPr>
              <a:t>, and </a:t>
            </a:r>
            <a:r>
              <a:rPr lang="en" sz="1800">
                <a:solidFill>
                  <a:srgbClr val="2980B9"/>
                </a:solidFill>
                <a:highlight>
                  <a:srgbClr val="FCFCFC"/>
                </a:highlight>
                <a:uFill>
                  <a:noFill/>
                </a:uFill>
                <a:hlinkClick r:id="rId7">
                  <a:extLst>
                    <a:ext uri="{A12FA001-AC4F-418D-AE19-62706E023703}">
                      <ahyp:hlinkClr val="tx"/>
                    </a:ext>
                  </a:extLst>
                </a:hlinkClick>
              </a:rPr>
              <a:t>paraphrase mining</a:t>
            </a:r>
            <a:r>
              <a:rPr lang="en" sz="1800">
                <a:solidFill>
                  <a:srgbClr val="404040"/>
                </a:solidFill>
                <a:highlight>
                  <a:srgbClr val="FCFCFC"/>
                </a:highlight>
              </a:rPr>
              <a:t>.</a:t>
            </a:r>
            <a:endParaRPr sz="1800">
              <a:solidFill>
                <a:srgbClr val="404040"/>
              </a:solidFill>
              <a:highlight>
                <a:srgbClr val="FCFCFC"/>
              </a:highlight>
            </a:endParaRPr>
          </a:p>
          <a:p>
            <a:pPr indent="0" lvl="0" marL="0" rtl="0" algn="l">
              <a:lnSpc>
                <a:spcPct val="105000"/>
              </a:lnSpc>
              <a:spcBef>
                <a:spcPts val="1800"/>
              </a:spcBef>
              <a:spcAft>
                <a:spcPts val="1200"/>
              </a:spcAft>
              <a:buNone/>
            </a:pPr>
            <a:r>
              <a:t/>
            </a:r>
            <a:endParaRPr sz="1800"/>
          </a:p>
        </p:txBody>
      </p:sp>
      <p:pic>
        <p:nvPicPr>
          <p:cNvPr descr="Sentence embedding example" id="146" name="Google Shape;146;p25"/>
          <p:cNvPicPr preferRelativeResize="0"/>
          <p:nvPr/>
        </p:nvPicPr>
        <p:blipFill>
          <a:blip r:embed="rId8">
            <a:alphaModFix/>
          </a:blip>
          <a:stretch>
            <a:fillRect/>
          </a:stretch>
        </p:blipFill>
        <p:spPr>
          <a:xfrm>
            <a:off x="4931700" y="1516373"/>
            <a:ext cx="4226448" cy="2295001"/>
          </a:xfrm>
          <a:prstGeom prst="rect">
            <a:avLst/>
          </a:prstGeom>
          <a:noFill/>
          <a:ln>
            <a:noFill/>
          </a:ln>
        </p:spPr>
      </p:pic>
      <p:pic>
        <p:nvPicPr>
          <p:cNvPr descr="HuggingFace logo" id="147" name="Google Shape;147;p25"/>
          <p:cNvPicPr preferRelativeResize="0"/>
          <p:nvPr/>
        </p:nvPicPr>
        <p:blipFill>
          <a:blip r:embed="rId9">
            <a:alphaModFix/>
          </a:blip>
          <a:stretch>
            <a:fillRect/>
          </a:stretch>
        </p:blipFill>
        <p:spPr>
          <a:xfrm>
            <a:off x="7834874" y="485099"/>
            <a:ext cx="1031275" cy="1031275"/>
          </a:xfrm>
          <a:prstGeom prst="rect">
            <a:avLst/>
          </a:prstGeom>
          <a:noFill/>
          <a:ln>
            <a:noFill/>
          </a:ln>
        </p:spPr>
      </p:pic>
      <p:sp>
        <p:nvSpPr>
          <p:cNvPr id="148" name="Google Shape;148;p25"/>
          <p:cNvSpPr txBox="1"/>
          <p:nvPr/>
        </p:nvSpPr>
        <p:spPr>
          <a:xfrm>
            <a:off x="5943025" y="3841425"/>
            <a:ext cx="2493900" cy="6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u="sng">
                <a:solidFill>
                  <a:schemeClr val="hlink"/>
                </a:solidFill>
                <a:latin typeface="Roboto Serif Thin"/>
                <a:ea typeface="Roboto Serif Thin"/>
                <a:cs typeface="Roboto Serif Thin"/>
                <a:sym typeface="Roboto Serif Thin"/>
                <a:hlinkClick r:id="rId10"/>
              </a:rPr>
              <a:t>Source</a:t>
            </a:r>
            <a:endParaRPr sz="2300">
              <a:solidFill>
                <a:schemeClr val="dk2"/>
              </a:solidFill>
              <a:latin typeface="Roboto Serif Thin"/>
              <a:ea typeface="Roboto Serif Thin"/>
              <a:cs typeface="Roboto Serif Thin"/>
              <a:sym typeface="Roboto Serif Thin"/>
            </a:endParaRPr>
          </a:p>
        </p:txBody>
      </p:sp>
      <p:pic>
        <p:nvPicPr>
          <p:cNvPr id="149" name="Google Shape;149;p25"/>
          <p:cNvPicPr preferRelativeResize="0"/>
          <p:nvPr/>
        </p:nvPicPr>
        <p:blipFill>
          <a:blip r:embed="rId11">
            <a:alphaModFix/>
          </a:blip>
          <a:stretch>
            <a:fillRect/>
          </a:stretch>
        </p:blipFill>
        <p:spPr>
          <a:xfrm>
            <a:off x="0" y="4422302"/>
            <a:ext cx="9144003" cy="66079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555600"/>
            <a:ext cx="6144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000"/>
              <a:t>Facebook AI Similarity Search (FAISS)</a:t>
            </a:r>
            <a:endParaRPr sz="3000"/>
          </a:p>
        </p:txBody>
      </p:sp>
      <p:sp>
        <p:nvSpPr>
          <p:cNvPr id="155" name="Google Shape;155;p26"/>
          <p:cNvSpPr txBox="1"/>
          <p:nvPr>
            <p:ph idx="1" type="body"/>
          </p:nvPr>
        </p:nvSpPr>
        <p:spPr>
          <a:xfrm>
            <a:off x="220125" y="1389600"/>
            <a:ext cx="6946800" cy="2797200"/>
          </a:xfrm>
          <a:prstGeom prst="rect">
            <a:avLst/>
          </a:prstGeom>
        </p:spPr>
        <p:txBody>
          <a:bodyPr anchorCtr="0" anchor="t" bIns="91425" lIns="91425" spcFirstLastPara="1" rIns="91425" wrap="square" tIns="91425">
            <a:noAutofit/>
          </a:bodyPr>
          <a:lstStyle/>
          <a:p>
            <a:pPr indent="-342900" lvl="0" marL="457200" rtl="0" algn="l">
              <a:lnSpc>
                <a:spcPct val="163636"/>
              </a:lnSpc>
              <a:spcBef>
                <a:spcPts val="0"/>
              </a:spcBef>
              <a:spcAft>
                <a:spcPts val="0"/>
              </a:spcAft>
              <a:buSzPts val="1800"/>
              <a:buChar char="●"/>
            </a:pPr>
            <a:r>
              <a:rPr lang="en" sz="1800">
                <a:solidFill>
                  <a:srgbClr val="404040"/>
                </a:solidFill>
                <a:highlight>
                  <a:srgbClr val="FCFCFC"/>
                </a:highlight>
              </a:rPr>
              <a:t>library for efficient similarity search and clustering of vectors</a:t>
            </a:r>
            <a:endParaRPr sz="1800">
              <a:solidFill>
                <a:srgbClr val="404040"/>
              </a:solidFill>
              <a:highlight>
                <a:srgbClr val="FCFCFC"/>
              </a:highlight>
            </a:endParaRPr>
          </a:p>
          <a:p>
            <a:pPr indent="-342900" lvl="0" marL="457200" rtl="0" algn="l">
              <a:lnSpc>
                <a:spcPct val="163636"/>
              </a:lnSpc>
              <a:spcBef>
                <a:spcPts val="0"/>
              </a:spcBef>
              <a:spcAft>
                <a:spcPts val="0"/>
              </a:spcAft>
              <a:buSzPts val="1800"/>
              <a:buChar char="●"/>
            </a:pPr>
            <a:r>
              <a:rPr lang="en" sz="1800">
                <a:solidFill>
                  <a:srgbClr val="344854"/>
                </a:solidFill>
                <a:highlight>
                  <a:srgbClr val="FFFFFF"/>
                </a:highlight>
              </a:rPr>
              <a:t>search multimedia documents impossible with standard database engines (SQL)</a:t>
            </a:r>
            <a:endParaRPr sz="1800">
              <a:solidFill>
                <a:srgbClr val="344854"/>
              </a:solidFill>
              <a:highlight>
                <a:srgbClr val="FFFFFF"/>
              </a:highlight>
            </a:endParaRPr>
          </a:p>
          <a:p>
            <a:pPr indent="-342900" lvl="0" marL="457200" rtl="0" algn="l">
              <a:lnSpc>
                <a:spcPct val="163636"/>
              </a:lnSpc>
              <a:spcBef>
                <a:spcPts val="0"/>
              </a:spcBef>
              <a:spcAft>
                <a:spcPts val="0"/>
              </a:spcAft>
              <a:buSzPts val="1800"/>
              <a:buChar char="●"/>
            </a:pPr>
            <a:r>
              <a:rPr lang="en" sz="1800">
                <a:solidFill>
                  <a:srgbClr val="344854"/>
                </a:solidFill>
                <a:highlight>
                  <a:srgbClr val="FFFFFF"/>
                </a:highlight>
              </a:rPr>
              <a:t>includes nearest-neighbor search </a:t>
            </a:r>
            <a:r>
              <a:rPr lang="en" sz="1800">
                <a:solidFill>
                  <a:srgbClr val="344854"/>
                </a:solidFill>
                <a:highlight>
                  <a:srgbClr val="FFFFFF"/>
                </a:highlight>
              </a:rPr>
              <a:t>optimizing memory</a:t>
            </a:r>
            <a:r>
              <a:rPr lang="en" sz="1800">
                <a:solidFill>
                  <a:srgbClr val="344854"/>
                </a:solidFill>
                <a:highlight>
                  <a:srgbClr val="FFFFFF"/>
                </a:highlight>
              </a:rPr>
              <a:t>-speed-accuracy tradeoff.</a:t>
            </a:r>
            <a:endParaRPr sz="1800">
              <a:solidFill>
                <a:srgbClr val="404040"/>
              </a:solidFill>
              <a:highlight>
                <a:srgbClr val="FCFCFC"/>
              </a:highlight>
            </a:endParaRPr>
          </a:p>
          <a:p>
            <a:pPr indent="0" lvl="0" marL="0" rtl="0" algn="l">
              <a:lnSpc>
                <a:spcPct val="100000"/>
              </a:lnSpc>
              <a:spcBef>
                <a:spcPts val="1800"/>
              </a:spcBef>
              <a:spcAft>
                <a:spcPts val="0"/>
              </a:spcAft>
              <a:buClr>
                <a:schemeClr val="dk1"/>
              </a:buClr>
              <a:buSzPts val="1100"/>
              <a:buFont typeface="Arial"/>
              <a:buNone/>
            </a:pPr>
            <a:r>
              <a:t/>
            </a:r>
            <a:endParaRPr sz="1800"/>
          </a:p>
          <a:p>
            <a:pPr indent="0" lvl="0" marL="0" rtl="0" algn="l">
              <a:spcBef>
                <a:spcPts val="0"/>
              </a:spcBef>
              <a:spcAft>
                <a:spcPts val="1200"/>
              </a:spcAft>
              <a:buNone/>
            </a:pPr>
            <a:r>
              <a:t/>
            </a:r>
            <a:endParaRPr sz="1800"/>
          </a:p>
        </p:txBody>
      </p:sp>
      <p:pic>
        <p:nvPicPr>
          <p:cNvPr descr="K Nearest Neighbours approach - shown via a 2-D diagram of data points and different K values." id="156" name="Google Shape;156;p26"/>
          <p:cNvPicPr preferRelativeResize="0"/>
          <p:nvPr/>
        </p:nvPicPr>
        <p:blipFill>
          <a:blip r:embed="rId3">
            <a:alphaModFix/>
          </a:blip>
          <a:stretch>
            <a:fillRect/>
          </a:stretch>
        </p:blipFill>
        <p:spPr>
          <a:xfrm>
            <a:off x="6314820" y="1862626"/>
            <a:ext cx="2706505" cy="1998025"/>
          </a:xfrm>
          <a:prstGeom prst="rect">
            <a:avLst/>
          </a:prstGeom>
          <a:noFill/>
          <a:ln>
            <a:noFill/>
          </a:ln>
        </p:spPr>
      </p:pic>
      <p:sp>
        <p:nvSpPr>
          <p:cNvPr id="157" name="Google Shape;157;p26"/>
          <p:cNvSpPr txBox="1"/>
          <p:nvPr/>
        </p:nvSpPr>
        <p:spPr>
          <a:xfrm>
            <a:off x="5925025" y="4102500"/>
            <a:ext cx="3096300" cy="3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Serif Thin"/>
                <a:ea typeface="Roboto Serif Thin"/>
                <a:cs typeface="Roboto Serif Thin"/>
                <a:sym typeface="Roboto Serif Thin"/>
              </a:rPr>
              <a:t>KNN model - </a:t>
            </a:r>
            <a:r>
              <a:rPr lang="en" sz="1800" u="sng">
                <a:solidFill>
                  <a:schemeClr val="hlink"/>
                </a:solidFill>
                <a:latin typeface="Roboto Serif Thin"/>
                <a:ea typeface="Roboto Serif Thin"/>
                <a:cs typeface="Roboto Serif Thin"/>
                <a:sym typeface="Roboto Serif Thin"/>
                <a:hlinkClick r:id="rId4"/>
              </a:rPr>
              <a:t>source</a:t>
            </a:r>
            <a:endParaRPr sz="1800">
              <a:solidFill>
                <a:schemeClr val="dk2"/>
              </a:solidFill>
              <a:latin typeface="Roboto Serif Thin"/>
              <a:ea typeface="Roboto Serif Thin"/>
              <a:cs typeface="Roboto Serif Thin"/>
              <a:sym typeface="Roboto Serif Thin"/>
            </a:endParaRPr>
          </a:p>
        </p:txBody>
      </p:sp>
      <p:pic>
        <p:nvPicPr>
          <p:cNvPr id="158" name="Google Shape;158;p26"/>
          <p:cNvPicPr preferRelativeResize="0"/>
          <p:nvPr/>
        </p:nvPicPr>
        <p:blipFill>
          <a:blip r:embed="rId5">
            <a:alphaModFix/>
          </a:blip>
          <a:stretch>
            <a:fillRect/>
          </a:stretch>
        </p:blipFill>
        <p:spPr>
          <a:xfrm>
            <a:off x="7834569" y="266744"/>
            <a:ext cx="1044525" cy="1044550"/>
          </a:xfrm>
          <a:prstGeom prst="rect">
            <a:avLst/>
          </a:prstGeom>
          <a:noFill/>
          <a:ln>
            <a:noFill/>
          </a:ln>
        </p:spPr>
      </p:pic>
      <p:pic>
        <p:nvPicPr>
          <p:cNvPr id="159" name="Google Shape;159;p26"/>
          <p:cNvPicPr preferRelativeResize="0"/>
          <p:nvPr/>
        </p:nvPicPr>
        <p:blipFill>
          <a:blip r:embed="rId6">
            <a:alphaModFix/>
          </a:blip>
          <a:stretch>
            <a:fillRect/>
          </a:stretch>
        </p:blipFill>
        <p:spPr>
          <a:xfrm>
            <a:off x="0" y="4422302"/>
            <a:ext cx="9144003" cy="6607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Sample Outputs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nvSpPr>
        <p:spPr>
          <a:xfrm>
            <a:off x="152400" y="4002625"/>
            <a:ext cx="4023000" cy="2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dk2"/>
                </a:solidFill>
                <a:latin typeface="Roboto Serif Thin"/>
                <a:ea typeface="Roboto Serif Thin"/>
                <a:cs typeface="Roboto Serif Thin"/>
                <a:sym typeface="Roboto Serif Thin"/>
              </a:rPr>
              <a:t>Based on a K value of 10.</a:t>
            </a:r>
            <a:endParaRPr i="1" sz="1800">
              <a:solidFill>
                <a:schemeClr val="dk2"/>
              </a:solidFill>
              <a:latin typeface="Roboto Serif Thin"/>
              <a:ea typeface="Roboto Serif Thin"/>
              <a:cs typeface="Roboto Serif Thin"/>
              <a:sym typeface="Roboto Serif Thin"/>
            </a:endParaRPr>
          </a:p>
        </p:txBody>
      </p:sp>
      <p:pic>
        <p:nvPicPr>
          <p:cNvPr id="170" name="Google Shape;170;p28"/>
          <p:cNvPicPr preferRelativeResize="0"/>
          <p:nvPr/>
        </p:nvPicPr>
        <p:blipFill>
          <a:blip r:embed="rId3">
            <a:alphaModFix/>
          </a:blip>
          <a:stretch>
            <a:fillRect/>
          </a:stretch>
        </p:blipFill>
        <p:spPr>
          <a:xfrm>
            <a:off x="0" y="4422302"/>
            <a:ext cx="9144003" cy="660797"/>
          </a:xfrm>
          <a:prstGeom prst="rect">
            <a:avLst/>
          </a:prstGeom>
          <a:noFill/>
          <a:ln>
            <a:noFill/>
          </a:ln>
        </p:spPr>
      </p:pic>
      <p:pic>
        <p:nvPicPr>
          <p:cNvPr descr="Sample output - showcasing Streamlit user interface" id="171" name="Google Shape;171;p28"/>
          <p:cNvPicPr preferRelativeResize="0"/>
          <p:nvPr/>
        </p:nvPicPr>
        <p:blipFill>
          <a:blip r:embed="rId4">
            <a:alphaModFix/>
          </a:blip>
          <a:stretch>
            <a:fillRect/>
          </a:stretch>
        </p:blipFill>
        <p:spPr>
          <a:xfrm>
            <a:off x="977900" y="748150"/>
            <a:ext cx="7878225" cy="3310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nvSpPr>
        <p:spPr>
          <a:xfrm>
            <a:off x="152400" y="4002625"/>
            <a:ext cx="73830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dk2"/>
                </a:solidFill>
                <a:latin typeface="Roboto Serif Thin"/>
                <a:ea typeface="Roboto Serif Thin"/>
                <a:cs typeface="Roboto Serif Thin"/>
                <a:sym typeface="Roboto Serif Thin"/>
              </a:rPr>
              <a:t>Sample output with k limited to top 10. Summarisation by RAG</a:t>
            </a:r>
            <a:endParaRPr i="1" sz="1800">
              <a:solidFill>
                <a:schemeClr val="dk2"/>
              </a:solidFill>
              <a:latin typeface="Roboto Serif Thin"/>
              <a:ea typeface="Roboto Serif Thin"/>
              <a:cs typeface="Roboto Serif Thin"/>
              <a:sym typeface="Roboto Serif Thin"/>
            </a:endParaRPr>
          </a:p>
        </p:txBody>
      </p:sp>
      <p:pic>
        <p:nvPicPr>
          <p:cNvPr id="177" name="Google Shape;177;p29"/>
          <p:cNvPicPr preferRelativeResize="0"/>
          <p:nvPr/>
        </p:nvPicPr>
        <p:blipFill>
          <a:blip r:embed="rId3">
            <a:alphaModFix/>
          </a:blip>
          <a:stretch>
            <a:fillRect/>
          </a:stretch>
        </p:blipFill>
        <p:spPr>
          <a:xfrm>
            <a:off x="0" y="4422302"/>
            <a:ext cx="9144003" cy="660797"/>
          </a:xfrm>
          <a:prstGeom prst="rect">
            <a:avLst/>
          </a:prstGeom>
          <a:noFill/>
          <a:ln>
            <a:noFill/>
          </a:ln>
        </p:spPr>
      </p:pic>
      <p:pic>
        <p:nvPicPr>
          <p:cNvPr descr="Sample output 2 - showcasing Streamlit user interface - gives summarisation by RAG" id="178" name="Google Shape;178;p29"/>
          <p:cNvPicPr preferRelativeResize="0"/>
          <p:nvPr/>
        </p:nvPicPr>
        <p:blipFill>
          <a:blip r:embed="rId4">
            <a:alphaModFix/>
          </a:blip>
          <a:stretch>
            <a:fillRect/>
          </a:stretch>
        </p:blipFill>
        <p:spPr>
          <a:xfrm>
            <a:off x="1993900" y="482600"/>
            <a:ext cx="5734050" cy="3381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Table output for vaccines with 200 results" id="183" name="Google Shape;183;p30"/>
          <p:cNvPicPr preferRelativeResize="0"/>
          <p:nvPr/>
        </p:nvPicPr>
        <p:blipFill rotWithShape="1">
          <a:blip r:embed="rId3">
            <a:alphaModFix/>
          </a:blip>
          <a:srcRect b="0" l="17830" r="0" t="0"/>
          <a:stretch/>
        </p:blipFill>
        <p:spPr>
          <a:xfrm>
            <a:off x="2538475" y="1382151"/>
            <a:ext cx="6005752" cy="3288150"/>
          </a:xfrm>
          <a:prstGeom prst="rect">
            <a:avLst/>
          </a:prstGeom>
          <a:noFill/>
          <a:ln>
            <a:noFill/>
          </a:ln>
        </p:spPr>
      </p:pic>
      <p:pic>
        <p:nvPicPr>
          <p:cNvPr descr="user input: 'Find all research around vaccine or mRNA'" id="184" name="Google Shape;184;p30"/>
          <p:cNvPicPr preferRelativeResize="0"/>
          <p:nvPr/>
        </p:nvPicPr>
        <p:blipFill>
          <a:blip r:embed="rId4">
            <a:alphaModFix/>
          </a:blip>
          <a:stretch>
            <a:fillRect/>
          </a:stretch>
        </p:blipFill>
        <p:spPr>
          <a:xfrm>
            <a:off x="3592788" y="421800"/>
            <a:ext cx="3629025" cy="619125"/>
          </a:xfrm>
          <a:prstGeom prst="rect">
            <a:avLst/>
          </a:prstGeom>
          <a:noFill/>
          <a:ln>
            <a:noFill/>
          </a:ln>
        </p:spPr>
      </p:pic>
      <p:sp>
        <p:nvSpPr>
          <p:cNvPr id="185" name="Google Shape;185;p30"/>
          <p:cNvSpPr/>
          <p:nvPr/>
        </p:nvSpPr>
        <p:spPr>
          <a:xfrm>
            <a:off x="7861925" y="537875"/>
            <a:ext cx="970500" cy="50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 input</a:t>
            </a:r>
            <a:endParaRPr/>
          </a:p>
        </p:txBody>
      </p:sp>
      <p:sp>
        <p:nvSpPr>
          <p:cNvPr id="186" name="Google Shape;186;p30"/>
          <p:cNvSpPr/>
          <p:nvPr/>
        </p:nvSpPr>
        <p:spPr>
          <a:xfrm>
            <a:off x="940800" y="2981800"/>
            <a:ext cx="970500" cy="50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Search results</a:t>
            </a:r>
            <a:endParaRPr/>
          </a:p>
        </p:txBody>
      </p:sp>
      <p:pic>
        <p:nvPicPr>
          <p:cNvPr id="187" name="Google Shape;187;p30"/>
          <p:cNvPicPr preferRelativeResize="0"/>
          <p:nvPr/>
        </p:nvPicPr>
        <p:blipFill>
          <a:blip r:embed="rId5">
            <a:alphaModFix/>
          </a:blip>
          <a:stretch>
            <a:fillRect/>
          </a:stretch>
        </p:blipFill>
        <p:spPr>
          <a:xfrm>
            <a:off x="0" y="4422302"/>
            <a:ext cx="9144003" cy="660797"/>
          </a:xfrm>
          <a:prstGeom prst="rect">
            <a:avLst/>
          </a:prstGeom>
          <a:noFill/>
          <a:ln>
            <a:noFill/>
          </a:ln>
        </p:spPr>
      </p:pic>
      <p:sp>
        <p:nvSpPr>
          <p:cNvPr id="188" name="Google Shape;188;p30"/>
          <p:cNvSpPr txBox="1"/>
          <p:nvPr/>
        </p:nvSpPr>
        <p:spPr>
          <a:xfrm>
            <a:off x="452975" y="1047350"/>
            <a:ext cx="755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Serif Thin"/>
                <a:ea typeface="Roboto Serif Thin"/>
                <a:cs typeface="Roboto Serif Thin"/>
                <a:sym typeface="Roboto Serif Thin"/>
              </a:rPr>
              <a:t>Based on previous iteration of semantic search without RAG</a:t>
            </a:r>
            <a:endParaRPr sz="1800">
              <a:solidFill>
                <a:schemeClr val="dk2"/>
              </a:solidFill>
              <a:latin typeface="Roboto Serif Thin"/>
              <a:ea typeface="Roboto Serif Thin"/>
              <a:cs typeface="Roboto Serif Thin"/>
              <a:sym typeface="Roboto Serif Thi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p:nvPr/>
        </p:nvSpPr>
        <p:spPr>
          <a:xfrm>
            <a:off x="7861925" y="537875"/>
            <a:ext cx="970500" cy="50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 input</a:t>
            </a:r>
            <a:endParaRPr/>
          </a:p>
        </p:txBody>
      </p:sp>
      <p:sp>
        <p:nvSpPr>
          <p:cNvPr id="194" name="Google Shape;194;p31"/>
          <p:cNvSpPr/>
          <p:nvPr/>
        </p:nvSpPr>
        <p:spPr>
          <a:xfrm>
            <a:off x="940800" y="2981800"/>
            <a:ext cx="970500" cy="50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Search results</a:t>
            </a:r>
            <a:endParaRPr/>
          </a:p>
        </p:txBody>
      </p:sp>
      <p:pic>
        <p:nvPicPr>
          <p:cNvPr descr="Table output for mental health with 4951 results" id="195" name="Google Shape;195;p31"/>
          <p:cNvPicPr preferRelativeResize="0"/>
          <p:nvPr/>
        </p:nvPicPr>
        <p:blipFill rotWithShape="1">
          <a:blip r:embed="rId3">
            <a:alphaModFix/>
          </a:blip>
          <a:srcRect b="0" l="15554" r="0" t="0"/>
          <a:stretch/>
        </p:blipFill>
        <p:spPr>
          <a:xfrm>
            <a:off x="2045125" y="1495775"/>
            <a:ext cx="6787299" cy="3253575"/>
          </a:xfrm>
          <a:prstGeom prst="rect">
            <a:avLst/>
          </a:prstGeom>
          <a:noFill/>
          <a:ln>
            <a:noFill/>
          </a:ln>
        </p:spPr>
      </p:pic>
      <p:pic>
        <p:nvPicPr>
          <p:cNvPr descr="user input: 'research around mental health'" id="196" name="Google Shape;196;p31"/>
          <p:cNvPicPr preferRelativeResize="0"/>
          <p:nvPr/>
        </p:nvPicPr>
        <p:blipFill>
          <a:blip r:embed="rId4">
            <a:alphaModFix/>
          </a:blip>
          <a:stretch>
            <a:fillRect/>
          </a:stretch>
        </p:blipFill>
        <p:spPr>
          <a:xfrm>
            <a:off x="3840000" y="445025"/>
            <a:ext cx="2800350" cy="704850"/>
          </a:xfrm>
          <a:prstGeom prst="rect">
            <a:avLst/>
          </a:prstGeom>
          <a:noFill/>
          <a:ln>
            <a:noFill/>
          </a:ln>
        </p:spPr>
      </p:pic>
      <p:pic>
        <p:nvPicPr>
          <p:cNvPr id="197" name="Google Shape;197;p31"/>
          <p:cNvPicPr preferRelativeResize="0"/>
          <p:nvPr/>
        </p:nvPicPr>
        <p:blipFill>
          <a:blip r:embed="rId5">
            <a:alphaModFix/>
          </a:blip>
          <a:stretch>
            <a:fillRect/>
          </a:stretch>
        </p:blipFill>
        <p:spPr>
          <a:xfrm>
            <a:off x="0" y="4422302"/>
            <a:ext cx="9144003" cy="660797"/>
          </a:xfrm>
          <a:prstGeom prst="rect">
            <a:avLst/>
          </a:prstGeom>
          <a:noFill/>
          <a:ln>
            <a:noFill/>
          </a:ln>
        </p:spPr>
      </p:pic>
      <p:sp>
        <p:nvSpPr>
          <p:cNvPr id="198" name="Google Shape;198;p31"/>
          <p:cNvSpPr txBox="1"/>
          <p:nvPr/>
        </p:nvSpPr>
        <p:spPr>
          <a:xfrm>
            <a:off x="452975" y="1088750"/>
            <a:ext cx="7315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Serif Thin"/>
                <a:ea typeface="Roboto Serif Thin"/>
                <a:cs typeface="Roboto Serif Thin"/>
                <a:sym typeface="Roboto Serif Thin"/>
              </a:rPr>
              <a:t>Based on previous iteration of semantic search without RAG</a:t>
            </a:r>
            <a:endParaRPr sz="1800">
              <a:solidFill>
                <a:schemeClr val="dk2"/>
              </a:solidFill>
              <a:latin typeface="Roboto Serif Thin"/>
              <a:ea typeface="Roboto Serif Thin"/>
              <a:cs typeface="Roboto Serif Thin"/>
              <a:sym typeface="Roboto Serif Thi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Outcomes - What was achieved? </a:t>
            </a:r>
            <a:endParaRPr sz="3020"/>
          </a:p>
        </p:txBody>
      </p:sp>
      <p:sp>
        <p:nvSpPr>
          <p:cNvPr id="204" name="Google Shape;20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sz="2400"/>
              <a:t>Democratization of data analysis </a:t>
            </a:r>
            <a:endParaRPr sz="2400"/>
          </a:p>
          <a:p>
            <a:pPr indent="-381000" lvl="0" marL="457200" rtl="0" algn="l">
              <a:spcBef>
                <a:spcPts val="0"/>
              </a:spcBef>
              <a:spcAft>
                <a:spcPts val="0"/>
              </a:spcAft>
              <a:buSzPts val="2400"/>
              <a:buChar char="●"/>
            </a:pPr>
            <a:r>
              <a:rPr lang="en" sz="2400"/>
              <a:t>More exhaustive results</a:t>
            </a:r>
            <a:endParaRPr sz="2400"/>
          </a:p>
          <a:p>
            <a:pPr indent="-381000" lvl="0" marL="457200" rtl="0" algn="l">
              <a:spcBef>
                <a:spcPts val="0"/>
              </a:spcBef>
              <a:spcAft>
                <a:spcPts val="0"/>
              </a:spcAft>
              <a:buSzPts val="2400"/>
              <a:buChar char="●"/>
            </a:pPr>
            <a:r>
              <a:rPr lang="en" sz="2400"/>
              <a:t>Results summarisation</a:t>
            </a:r>
            <a:endParaRPr sz="2400"/>
          </a:p>
          <a:p>
            <a:pPr indent="-381000" lvl="0" marL="457200" rtl="0" algn="l">
              <a:spcBef>
                <a:spcPts val="0"/>
              </a:spcBef>
              <a:spcAft>
                <a:spcPts val="0"/>
              </a:spcAft>
              <a:buSzPts val="2400"/>
              <a:buChar char="●"/>
            </a:pPr>
            <a:r>
              <a:rPr lang="en" sz="2400"/>
              <a:t>Data Exploratory Analysis</a:t>
            </a:r>
            <a:endParaRPr sz="2400"/>
          </a:p>
          <a:p>
            <a:pPr indent="-381000" lvl="0" marL="457200" rtl="0" algn="l">
              <a:spcBef>
                <a:spcPts val="0"/>
              </a:spcBef>
              <a:spcAft>
                <a:spcPts val="0"/>
              </a:spcAft>
              <a:buSzPts val="2400"/>
              <a:buChar char="●"/>
            </a:pPr>
            <a:r>
              <a:rPr lang="en" sz="2400"/>
              <a:t>Operational and performance efficiencies</a:t>
            </a:r>
            <a:endParaRPr sz="2400"/>
          </a:p>
          <a:p>
            <a:pPr indent="-381000" lvl="0" marL="457200" rtl="0" algn="l">
              <a:spcBef>
                <a:spcPts val="0"/>
              </a:spcBef>
              <a:spcAft>
                <a:spcPts val="0"/>
              </a:spcAft>
              <a:buSzPts val="2400"/>
              <a:buChar char="●"/>
            </a:pPr>
            <a:r>
              <a:rPr lang="en" sz="2400"/>
              <a:t>Curated Portfolios</a:t>
            </a:r>
            <a:endParaRPr sz="2400"/>
          </a:p>
          <a:p>
            <a:pPr indent="0" lvl="0" marL="0" rtl="0" algn="l">
              <a:spcBef>
                <a:spcPts val="1200"/>
              </a:spcBef>
              <a:spcAft>
                <a:spcPts val="1200"/>
              </a:spcAft>
              <a:buNone/>
            </a:pPr>
            <a:r>
              <a:t/>
            </a:r>
            <a:endParaRPr sz="2400"/>
          </a:p>
        </p:txBody>
      </p:sp>
      <p:pic>
        <p:nvPicPr>
          <p:cNvPr descr="stock image of a billboard - signifying outcomes" id="205" name="Google Shape;205;p32"/>
          <p:cNvPicPr preferRelativeResize="0"/>
          <p:nvPr/>
        </p:nvPicPr>
        <p:blipFill>
          <a:blip r:embed="rId3">
            <a:alphaModFix/>
          </a:blip>
          <a:stretch>
            <a:fillRect/>
          </a:stretch>
        </p:blipFill>
        <p:spPr>
          <a:xfrm>
            <a:off x="7338771" y="55221"/>
            <a:ext cx="1493525" cy="1493525"/>
          </a:xfrm>
          <a:prstGeom prst="rect">
            <a:avLst/>
          </a:prstGeom>
          <a:noFill/>
          <a:ln>
            <a:noFill/>
          </a:ln>
        </p:spPr>
      </p:pic>
      <p:pic>
        <p:nvPicPr>
          <p:cNvPr id="206" name="Google Shape;206;p32"/>
          <p:cNvPicPr preferRelativeResize="0"/>
          <p:nvPr/>
        </p:nvPicPr>
        <p:blipFill>
          <a:blip r:embed="rId4">
            <a:alphaModFix/>
          </a:blip>
          <a:stretch>
            <a:fillRect/>
          </a:stretch>
        </p:blipFill>
        <p:spPr>
          <a:xfrm>
            <a:off x="0" y="4422302"/>
            <a:ext cx="9144003" cy="6607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Proposed Improvements</a:t>
            </a:r>
            <a:endParaRPr sz="3020"/>
          </a:p>
        </p:txBody>
      </p:sp>
      <p:pic>
        <p:nvPicPr>
          <p:cNvPr descr="Kanban of improvements in pipeline. " id="212" name="Google Shape;212;p33"/>
          <p:cNvPicPr preferRelativeResize="0"/>
          <p:nvPr/>
        </p:nvPicPr>
        <p:blipFill>
          <a:blip r:embed="rId3">
            <a:alphaModFix/>
          </a:blip>
          <a:stretch>
            <a:fillRect/>
          </a:stretch>
        </p:blipFill>
        <p:spPr>
          <a:xfrm>
            <a:off x="682088" y="1286823"/>
            <a:ext cx="7779826" cy="3084825"/>
          </a:xfrm>
          <a:prstGeom prst="rect">
            <a:avLst/>
          </a:prstGeom>
          <a:noFill/>
          <a:ln>
            <a:noFill/>
          </a:ln>
        </p:spPr>
      </p:pic>
      <p:pic>
        <p:nvPicPr>
          <p:cNvPr id="213" name="Google Shape;213;p33"/>
          <p:cNvPicPr preferRelativeResize="0"/>
          <p:nvPr/>
        </p:nvPicPr>
        <p:blipFill>
          <a:blip r:embed="rId4">
            <a:alphaModFix/>
          </a:blip>
          <a:stretch>
            <a:fillRect/>
          </a:stretch>
        </p:blipFill>
        <p:spPr>
          <a:xfrm>
            <a:off x="152400" y="4371650"/>
            <a:ext cx="8839204" cy="63877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34"/>
          <p:cNvPicPr preferRelativeResize="0"/>
          <p:nvPr/>
        </p:nvPicPr>
        <p:blipFill>
          <a:blip r:embed="rId3">
            <a:alphaModFix/>
          </a:blip>
          <a:stretch>
            <a:fillRect/>
          </a:stretch>
        </p:blipFill>
        <p:spPr>
          <a:xfrm>
            <a:off x="152400" y="4371650"/>
            <a:ext cx="8839204" cy="638771"/>
          </a:xfrm>
          <a:prstGeom prst="rect">
            <a:avLst/>
          </a:prstGeom>
          <a:noFill/>
          <a:ln>
            <a:noFill/>
          </a:ln>
        </p:spPr>
      </p:pic>
      <p:sp>
        <p:nvSpPr>
          <p:cNvPr id="219" name="Google Shape;219;p34"/>
          <p:cNvSpPr txBox="1"/>
          <p:nvPr/>
        </p:nvSpPr>
        <p:spPr>
          <a:xfrm>
            <a:off x="4697400" y="1414200"/>
            <a:ext cx="4294200" cy="2198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Roboto Serif"/>
              <a:buChar char="●"/>
            </a:pPr>
            <a:r>
              <a:rPr lang="en" sz="2400" u="sng">
                <a:solidFill>
                  <a:schemeClr val="accent5"/>
                </a:solidFill>
                <a:latin typeface="Roboto Serif"/>
                <a:ea typeface="Roboto Serif"/>
                <a:cs typeface="Roboto Serif"/>
                <a:sym typeface="Roboto Serif"/>
                <a:hlinkClick r:id="rId4">
                  <a:extLst>
                    <a:ext uri="{A12FA001-AC4F-418D-AE19-62706E023703}">
                      <ahyp:hlinkClr val="tx"/>
                    </a:ext>
                  </a:extLst>
                </a:hlinkClick>
              </a:rPr>
              <a:t>Github Repo</a:t>
            </a:r>
            <a:endParaRPr sz="2400">
              <a:solidFill>
                <a:schemeClr val="accent5"/>
              </a:solidFill>
              <a:latin typeface="Roboto Serif"/>
              <a:ea typeface="Roboto Serif"/>
              <a:cs typeface="Roboto Serif"/>
              <a:sym typeface="Roboto Serif"/>
            </a:endParaRPr>
          </a:p>
          <a:p>
            <a:pPr indent="-381000" lvl="0" marL="457200" rtl="0" algn="l">
              <a:lnSpc>
                <a:spcPct val="115000"/>
              </a:lnSpc>
              <a:spcBef>
                <a:spcPts val="0"/>
              </a:spcBef>
              <a:spcAft>
                <a:spcPts val="0"/>
              </a:spcAft>
              <a:buSzPts val="2400"/>
              <a:buFont typeface="Roboto Serif"/>
              <a:buChar char="●"/>
            </a:pPr>
            <a:r>
              <a:rPr lang="en" sz="2400" u="sng">
                <a:solidFill>
                  <a:schemeClr val="accent5"/>
                </a:solidFill>
                <a:latin typeface="Roboto Serif"/>
                <a:ea typeface="Roboto Serif"/>
                <a:cs typeface="Roboto Serif"/>
                <a:sym typeface="Roboto Serif"/>
                <a:hlinkClick r:id="rId5">
                  <a:extLst>
                    <a:ext uri="{A12FA001-AC4F-418D-AE19-62706E023703}">
                      <ahyp:hlinkClr val="tx"/>
                    </a:ext>
                  </a:extLst>
                </a:hlinkClick>
              </a:rPr>
              <a:t>Streamlit</a:t>
            </a:r>
            <a:endParaRPr sz="2400">
              <a:solidFill>
                <a:schemeClr val="accent5"/>
              </a:solidFill>
              <a:latin typeface="Roboto Serif"/>
              <a:ea typeface="Roboto Serif"/>
              <a:cs typeface="Roboto Serif"/>
              <a:sym typeface="Roboto Serif"/>
            </a:endParaRPr>
          </a:p>
          <a:p>
            <a:pPr indent="-381000" lvl="0" marL="457200" rtl="0" algn="l">
              <a:lnSpc>
                <a:spcPct val="115000"/>
              </a:lnSpc>
              <a:spcBef>
                <a:spcPts val="0"/>
              </a:spcBef>
              <a:spcAft>
                <a:spcPts val="0"/>
              </a:spcAft>
              <a:buSzPts val="2400"/>
              <a:buFont typeface="Roboto Serif"/>
              <a:buChar char="●"/>
            </a:pPr>
            <a:r>
              <a:rPr lang="en" sz="2400" u="sng">
                <a:solidFill>
                  <a:schemeClr val="accent5"/>
                </a:solidFill>
                <a:latin typeface="Roboto Serif"/>
                <a:ea typeface="Roboto Serif"/>
                <a:cs typeface="Roboto Serif"/>
                <a:sym typeface="Roboto Serif"/>
                <a:hlinkClick r:id="rId6">
                  <a:extLst>
                    <a:ext uri="{A12FA001-AC4F-418D-AE19-62706E023703}">
                      <ahyp:hlinkClr val="tx"/>
                    </a:ext>
                  </a:extLst>
                </a:hlinkClick>
              </a:rPr>
              <a:t>Hugging Face</a:t>
            </a:r>
            <a:endParaRPr sz="2400">
              <a:solidFill>
                <a:schemeClr val="accent5"/>
              </a:solidFill>
              <a:latin typeface="Roboto Serif"/>
              <a:ea typeface="Roboto Serif"/>
              <a:cs typeface="Roboto Serif"/>
              <a:sym typeface="Roboto Serif"/>
            </a:endParaRPr>
          </a:p>
          <a:p>
            <a:pPr indent="-381000" lvl="0" marL="457200" rtl="0" algn="l">
              <a:lnSpc>
                <a:spcPct val="115000"/>
              </a:lnSpc>
              <a:spcBef>
                <a:spcPts val="0"/>
              </a:spcBef>
              <a:spcAft>
                <a:spcPts val="0"/>
              </a:spcAft>
              <a:buSzPts val="2400"/>
              <a:buFont typeface="Roboto Serif"/>
              <a:buChar char="●"/>
            </a:pPr>
            <a:r>
              <a:rPr lang="en" sz="2400" u="sng">
                <a:solidFill>
                  <a:schemeClr val="accent5"/>
                </a:solidFill>
                <a:latin typeface="Roboto Serif"/>
                <a:ea typeface="Roboto Serif"/>
                <a:cs typeface="Roboto Serif"/>
                <a:sym typeface="Roboto Serif"/>
                <a:hlinkClick r:id="rId7">
                  <a:extLst>
                    <a:ext uri="{A12FA001-AC4F-418D-AE19-62706E023703}">
                      <ahyp:hlinkClr val="tx"/>
                    </a:ext>
                  </a:extLst>
                </a:hlinkClick>
              </a:rPr>
              <a:t>FAISS</a:t>
            </a:r>
            <a:endParaRPr sz="2400">
              <a:solidFill>
                <a:schemeClr val="accent5"/>
              </a:solidFill>
              <a:latin typeface="Roboto Serif"/>
              <a:ea typeface="Roboto Serif"/>
              <a:cs typeface="Roboto Serif"/>
              <a:sym typeface="Roboto Serif"/>
            </a:endParaRPr>
          </a:p>
          <a:p>
            <a:pPr indent="-381000" lvl="0" marL="457200" rtl="0" algn="l">
              <a:lnSpc>
                <a:spcPct val="115000"/>
              </a:lnSpc>
              <a:spcBef>
                <a:spcPts val="0"/>
              </a:spcBef>
              <a:spcAft>
                <a:spcPts val="0"/>
              </a:spcAft>
              <a:buSzPts val="2400"/>
              <a:buFont typeface="Roboto Serif"/>
              <a:buChar char="●"/>
            </a:pPr>
            <a:r>
              <a:rPr lang="en" sz="2400" u="sng">
                <a:solidFill>
                  <a:schemeClr val="accent5"/>
                </a:solidFill>
                <a:latin typeface="Roboto Serif"/>
                <a:ea typeface="Roboto Serif"/>
                <a:cs typeface="Roboto Serif"/>
                <a:sym typeface="Roboto Serif"/>
                <a:hlinkClick r:id="rId8">
                  <a:extLst>
                    <a:ext uri="{A12FA001-AC4F-418D-AE19-62706E023703}">
                      <ahyp:hlinkClr val="tx"/>
                    </a:ext>
                  </a:extLst>
                </a:hlinkClick>
              </a:rPr>
              <a:t>Sentence-transformers</a:t>
            </a:r>
            <a:endParaRPr sz="2400">
              <a:solidFill>
                <a:schemeClr val="accent5"/>
              </a:solidFill>
              <a:latin typeface="Roboto Serif"/>
              <a:ea typeface="Roboto Serif"/>
              <a:cs typeface="Roboto Serif"/>
              <a:sym typeface="Roboto Serif"/>
            </a:endParaRPr>
          </a:p>
        </p:txBody>
      </p:sp>
      <p:sp>
        <p:nvSpPr>
          <p:cNvPr id="220" name="Google Shape;220;p34"/>
          <p:cNvSpPr txBox="1"/>
          <p:nvPr>
            <p:ph type="title"/>
          </p:nvPr>
        </p:nvSpPr>
        <p:spPr>
          <a:xfrm>
            <a:off x="225300" y="12966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Terms of Use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5"/>
          <p:cNvPicPr preferRelativeResize="0"/>
          <p:nvPr/>
        </p:nvPicPr>
        <p:blipFill>
          <a:blip r:embed="rId3">
            <a:alphaModFix/>
          </a:blip>
          <a:stretch>
            <a:fillRect/>
          </a:stretch>
        </p:blipFill>
        <p:spPr>
          <a:xfrm>
            <a:off x="152400" y="4371650"/>
            <a:ext cx="8839204" cy="638771"/>
          </a:xfrm>
          <a:prstGeom prst="rect">
            <a:avLst/>
          </a:prstGeom>
          <a:noFill/>
          <a:ln>
            <a:noFill/>
          </a:ln>
        </p:spPr>
      </p:pic>
      <p:sp>
        <p:nvSpPr>
          <p:cNvPr id="226" name="Google Shape;226;p3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QnA?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